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1.png"/><Relationship Id="rId4" Type="http://schemas.openxmlformats.org/officeDocument/2006/relationships/image" Target="../media/image-9-1.png"/><Relationship Id="rId5" Type="http://schemas.openxmlformats.org/officeDocument/2006/relationships/image" Target="../media/image-9-1.png"/><Relationship Id="rId6" Type="http://schemas.openxmlformats.org/officeDocument/2006/relationships/image" Target="../media/image-9-1.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B39"/>
        </a:solidFill>
      </p:bgPr>
    </p:bg>
    <p:spTree>
      <p:nvGrpSpPr>
        <p:cNvPr id="1" name=""/>
        <p:cNvGrpSpPr/>
        <p:nvPr/>
      </p:nvGrpSpPr>
      <p:grpSpPr>
        <a:xfrm>
          <a:off x="0" y="0"/>
          <a:ext cx="0" cy="0"/>
          <a:chOff x="0" y="0"/>
          <a:chExt cx="0" cy="0"/>
        </a:xfrm>
      </p:grpSpPr>
      <p:sp>
        <p:nvSpPr>
          <p:cNvPr id="2" name="Shape 0"/>
          <p:cNvSpPr/>
          <p:nvPr/>
        </p:nvSpPr>
        <p:spPr>
          <a:xfrm>
            <a:off x="10607040" y="-1645920"/>
            <a:ext cx="3840480" cy="3840480"/>
          </a:xfrm>
          <a:prstGeom prst="ellipse">
            <a:avLst/>
          </a:prstGeom>
          <a:solidFill>
            <a:srgbClr val="141F29"/>
          </a:solidFill>
          <a:ln/>
        </p:spPr>
      </p:sp>
      <p:sp>
        <p:nvSpPr>
          <p:cNvPr id="3" name="Shape 1"/>
          <p:cNvSpPr/>
          <p:nvPr/>
        </p:nvSpPr>
        <p:spPr>
          <a:xfrm>
            <a:off x="11521440" y="4206240"/>
            <a:ext cx="3291840" cy="3291840"/>
          </a:xfrm>
          <a:prstGeom prst="ellipse">
            <a:avLst/>
          </a:prstGeom>
          <a:solidFill>
            <a:srgbClr val="141F29"/>
          </a:solidFill>
          <a:ln/>
        </p:spPr>
      </p:sp>
      <p:sp>
        <p:nvSpPr>
          <p:cNvPr id="4" name="Shape 2"/>
          <p:cNvSpPr/>
          <p:nvPr/>
        </p:nvSpPr>
        <p:spPr>
          <a:xfrm>
            <a:off x="548640" y="502920"/>
            <a:ext cx="457200" cy="457200"/>
          </a:xfrm>
          <a:prstGeom prst="ellipse">
            <a:avLst/>
          </a:prstGeom>
          <a:solidFill>
            <a:srgbClr val="E8890C"/>
          </a:solidFill>
          <a:ln/>
        </p:spPr>
      </p:sp>
      <p:pic>
        <p:nvPicPr>
          <p:cNvPr id="5" name="Image 0" descr="/home/claude/ppt/icons/gradcap.png">    </p:cNvPr>
          <p:cNvPicPr>
            <a:picLocks noChangeAspect="1"/>
          </p:cNvPicPr>
          <p:nvPr/>
        </p:nvPicPr>
        <p:blipFill>
          <a:blip r:embed="rId1"/>
          <a:stretch>
            <a:fillRect/>
          </a:stretch>
        </p:blipFill>
        <p:spPr>
          <a:xfrm>
            <a:off x="651510" y="605790"/>
            <a:ext cx="251460" cy="251460"/>
          </a:xfrm>
          <a:prstGeom prst="rect">
            <a:avLst/>
          </a:prstGeom>
        </p:spPr>
      </p:pic>
      <p:sp>
        <p:nvSpPr>
          <p:cNvPr id="6" name="Text 3"/>
          <p:cNvSpPr txBox="1"/>
          <p:nvPr/>
        </p:nvSpPr>
        <p:spPr>
          <a:xfrm>
            <a:off x="1143000" y="502920"/>
            <a:ext cx="548640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IILM UNIVERSITY, GREATER NOIDA</a:t>
            </a:r>
            <a:endParaRPr lang="en-US" sz="1400" dirty="0"/>
          </a:p>
        </p:txBody>
      </p:sp>
      <p:sp>
        <p:nvSpPr>
          <p:cNvPr id="7" name="Text 4"/>
          <p:cNvSpPr txBox="1"/>
          <p:nvPr/>
        </p:nvSpPr>
        <p:spPr>
          <a:xfrm>
            <a:off x="548640" y="2331720"/>
            <a:ext cx="7315200" cy="365760"/>
          </a:xfrm>
          <a:prstGeom prst="rect">
            <a:avLst/>
          </a:prstGeom>
          <a:noFill/>
          <a:ln/>
        </p:spPr>
        <p:txBody>
          <a:bodyPr wrap="square" lIns="0" tIns="0" rIns="0" bIns="0" rtlCol="0" anchor="ctr"/>
          <a:lstStyle/>
          <a:p>
            <a:pPr indent="0" marL="0">
              <a:buNone/>
            </a:pPr>
            <a:r>
              <a:rPr lang="en-US" sz="1300" b="1" spc="200" kern="0" dirty="0">
                <a:solidFill>
                  <a:srgbClr val="E8890C"/>
                </a:solidFill>
                <a:latin typeface="Calibri" pitchFamily="34" charset="0"/>
                <a:ea typeface="Calibri" pitchFamily="34" charset="-122"/>
                <a:cs typeface="Calibri" pitchFamily="34" charset="-120"/>
              </a:rPr>
              <a:t>COURSE COMPLETION PRESENTATION</a:t>
            </a:r>
            <a:endParaRPr lang="en-US" sz="1300" dirty="0"/>
          </a:p>
        </p:txBody>
      </p:sp>
      <p:sp>
        <p:nvSpPr>
          <p:cNvPr id="8" name="Text 5"/>
          <p:cNvSpPr txBox="1"/>
          <p:nvPr/>
        </p:nvSpPr>
        <p:spPr>
          <a:xfrm>
            <a:off x="502920" y="2697480"/>
            <a:ext cx="91440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Introduction to Modern AI</a:t>
            </a:r>
            <a:endParaRPr lang="en-US" sz="4400" dirty="0"/>
          </a:p>
        </p:txBody>
      </p:sp>
      <p:sp>
        <p:nvSpPr>
          <p:cNvPr id="9" name="Text 6"/>
          <p:cNvSpPr txBox="1"/>
          <p:nvPr/>
        </p:nvSpPr>
        <p:spPr>
          <a:xfrm>
            <a:off x="548640" y="3520440"/>
            <a:ext cx="8229600" cy="502920"/>
          </a:xfrm>
          <a:prstGeom prst="rect">
            <a:avLst/>
          </a:prstGeom>
          <a:noFill/>
          <a:ln/>
        </p:spPr>
        <p:txBody>
          <a:bodyPr wrap="square" lIns="0" tIns="0" rIns="0" bIns="0" rtlCol="0" anchor="ctr"/>
          <a:lstStyle/>
          <a:p>
            <a:pPr indent="0" marL="0">
              <a:buNone/>
            </a:pPr>
            <a:r>
              <a:rPr lang="en-US" sz="2200" dirty="0">
                <a:solidFill>
                  <a:srgbClr val="B9C2CC"/>
                </a:solidFill>
                <a:latin typeface="Calibri" pitchFamily="34" charset="0"/>
                <a:ea typeface="Calibri" pitchFamily="34" charset="-122"/>
                <a:cs typeface="Calibri" pitchFamily="34" charset="-120"/>
              </a:rPr>
              <a:t>A Free Course by Cisco Networking Academy</a:t>
            </a:r>
            <a:endParaRPr lang="en-US" sz="2200" dirty="0"/>
          </a:p>
        </p:txBody>
      </p:sp>
      <p:sp>
        <p:nvSpPr>
          <p:cNvPr id="10" name="Text 7"/>
          <p:cNvSpPr txBox="1"/>
          <p:nvPr/>
        </p:nvSpPr>
        <p:spPr>
          <a:xfrm>
            <a:off x="548640" y="4069080"/>
            <a:ext cx="8229600" cy="320040"/>
          </a:xfrm>
          <a:prstGeom prst="rect">
            <a:avLst/>
          </a:prstGeom>
          <a:noFill/>
          <a:ln/>
        </p:spPr>
        <p:txBody>
          <a:bodyPr wrap="square" lIns="0" tIns="0" rIns="0" bIns="0" rtlCol="0" anchor="ctr"/>
          <a:lstStyle/>
          <a:p>
            <a:pPr indent="0" marL="0">
              <a:buNone/>
            </a:pPr>
            <a:r>
              <a:rPr lang="en-US" sz="1300" dirty="0">
                <a:solidFill>
                  <a:srgbClr val="9AA6B2"/>
                </a:solidFill>
                <a:latin typeface="Calibri" pitchFamily="34" charset="0"/>
                <a:ea typeface="Calibri" pitchFamily="34" charset="-122"/>
                <a:cs typeface="Calibri" pitchFamily="34" charset="-120"/>
              </a:rPr>
              <a:t>Cisco Networking Academy (NetAcad)  |  Apply AI Learning Collection</a:t>
            </a:r>
            <a:endParaRPr lang="en-US" sz="1300" dirty="0"/>
          </a:p>
        </p:txBody>
      </p:sp>
      <p:sp>
        <p:nvSpPr>
          <p:cNvPr id="11" name="Shape 8"/>
          <p:cNvSpPr/>
          <p:nvPr/>
        </p:nvSpPr>
        <p:spPr>
          <a:xfrm>
            <a:off x="548640" y="4617720"/>
            <a:ext cx="1188720" cy="0"/>
          </a:xfrm>
          <a:prstGeom prst="line">
            <a:avLst/>
          </a:prstGeom>
          <a:noFill/>
          <a:ln w="31750">
            <a:solidFill>
              <a:srgbClr val="E8890C"/>
            </a:solidFill>
            <a:prstDash val="solid"/>
          </a:ln>
        </p:spPr>
      </p:sp>
      <p:sp>
        <p:nvSpPr>
          <p:cNvPr id="12" name="Text 9"/>
          <p:cNvSpPr txBox="1"/>
          <p:nvPr/>
        </p:nvSpPr>
        <p:spPr>
          <a:xfrm>
            <a:off x="548640" y="4800600"/>
            <a:ext cx="54864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Pushpendra Singh</a:t>
            </a:r>
            <a:endParaRPr lang="en-US" sz="1600" dirty="0"/>
          </a:p>
        </p:txBody>
      </p:sp>
      <p:sp>
        <p:nvSpPr>
          <p:cNvPr id="13" name="Text 10"/>
          <p:cNvSpPr txBox="1"/>
          <p:nvPr/>
        </p:nvSpPr>
        <p:spPr>
          <a:xfrm>
            <a:off x="548640" y="5166360"/>
            <a:ext cx="5486400" cy="320040"/>
          </a:xfrm>
          <a:prstGeom prst="rect">
            <a:avLst/>
          </a:prstGeom>
          <a:noFill/>
          <a:ln/>
        </p:spPr>
        <p:txBody>
          <a:bodyPr wrap="square" lIns="0" tIns="0" rIns="0" bIns="0" rtlCol="0" anchor="ctr"/>
          <a:lstStyle/>
          <a:p>
            <a:pPr indent="0" marL="0">
              <a:buNone/>
            </a:pPr>
            <a:r>
              <a:rPr lang="en-US" sz="1200" dirty="0">
                <a:solidFill>
                  <a:srgbClr val="B9C2CC"/>
                </a:solidFill>
                <a:latin typeface="Calibri" pitchFamily="34" charset="0"/>
                <a:ea typeface="Calibri" pitchFamily="34" charset="-122"/>
                <a:cs typeface="Calibri" pitchFamily="34" charset="-120"/>
              </a:rPr>
              <a:t>Roll No. 2410030810  |  B.Tech CSE (AI/ML)</a:t>
            </a:r>
            <a:endParaRPr lang="en-US" sz="1200" dirty="0"/>
          </a:p>
        </p:txBody>
      </p:sp>
      <p:sp>
        <p:nvSpPr>
          <p:cNvPr id="14" name="Text 11"/>
          <p:cNvSpPr txBox="1"/>
          <p:nvPr/>
        </p:nvSpPr>
        <p:spPr>
          <a:xfrm>
            <a:off x="548640" y="5440680"/>
            <a:ext cx="5486400" cy="320040"/>
          </a:xfrm>
          <a:prstGeom prst="rect">
            <a:avLst/>
          </a:prstGeom>
          <a:noFill/>
          <a:ln/>
        </p:spPr>
        <p:txBody>
          <a:bodyPr wrap="square" lIns="0" tIns="0" rIns="0" bIns="0" rtlCol="0" anchor="ctr"/>
          <a:lstStyle/>
          <a:p>
            <a:pPr indent="0" marL="0">
              <a:buNone/>
            </a:pPr>
            <a:r>
              <a:rPr lang="en-US" sz="1200" dirty="0">
                <a:solidFill>
                  <a:srgbClr val="B9C2CC"/>
                </a:solidFill>
                <a:latin typeface="Calibri" pitchFamily="34" charset="0"/>
                <a:ea typeface="Calibri" pitchFamily="34" charset="-122"/>
                <a:cs typeface="Calibri" pitchFamily="34" charset="-120"/>
              </a:rPr>
              <a:t>Completed 18 June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C2B39"/>
          </a:solidFill>
          <a:ln/>
        </p:spPr>
      </p:sp>
      <p:sp>
        <p:nvSpPr>
          <p:cNvPr id="3" name="Shape 1"/>
          <p:cNvSpPr/>
          <p:nvPr/>
        </p:nvSpPr>
        <p:spPr>
          <a:xfrm>
            <a:off x="-1463040" y="5120640"/>
            <a:ext cx="3108960" cy="3108960"/>
          </a:xfrm>
          <a:prstGeom prst="ellipse">
            <a:avLst/>
          </a:prstGeom>
          <a:solidFill>
            <a:srgbClr val="141F29"/>
          </a:solidFill>
          <a:ln/>
        </p:spPr>
      </p:sp>
      <p:sp>
        <p:nvSpPr>
          <p:cNvPr id="4" name="Shape 2"/>
          <p:cNvSpPr/>
          <p:nvPr/>
        </p:nvSpPr>
        <p:spPr>
          <a:xfrm>
            <a:off x="1554480" y="1005840"/>
            <a:ext cx="822960" cy="822960"/>
          </a:xfrm>
          <a:prstGeom prst="ellipse">
            <a:avLst/>
          </a:prstGeom>
          <a:solidFill>
            <a:srgbClr val="E8890C"/>
          </a:solidFill>
          <a:ln/>
        </p:spPr>
      </p:sp>
      <p:pic>
        <p:nvPicPr>
          <p:cNvPr id="5" name="Image 0" descr="/home/claude/ppt/icons/gradcap.png">    </p:cNvPr>
          <p:cNvPicPr>
            <a:picLocks noChangeAspect="1"/>
          </p:cNvPicPr>
          <p:nvPr/>
        </p:nvPicPr>
        <p:blipFill>
          <a:blip r:embed="rId1"/>
          <a:stretch>
            <a:fillRect/>
          </a:stretch>
        </p:blipFill>
        <p:spPr>
          <a:xfrm>
            <a:off x="1739646" y="1191006"/>
            <a:ext cx="452628" cy="452628"/>
          </a:xfrm>
          <a:prstGeom prst="rect">
            <a:avLst/>
          </a:prstGeom>
        </p:spPr>
      </p:pic>
      <p:sp>
        <p:nvSpPr>
          <p:cNvPr id="6" name="Text 3"/>
          <p:cNvSpPr txBox="1"/>
          <p:nvPr/>
        </p:nvSpPr>
        <p:spPr>
          <a:xfrm>
            <a:off x="274320" y="2011680"/>
            <a:ext cx="3291840" cy="10058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Pushpendra</a:t>
            </a:r>
            <a:endParaRPr lang="en-US" sz="3000" dirty="0"/>
          </a:p>
          <a:p>
            <a:pPr algn="ctr" indent="0" marL="0">
              <a:buNone/>
            </a:pPr>
            <a:r>
              <a:rPr lang="en-US" sz="3000" b="1" dirty="0">
                <a:solidFill>
                  <a:srgbClr val="FFFFFF"/>
                </a:solidFill>
                <a:latin typeface="Cambria" pitchFamily="34" charset="0"/>
                <a:ea typeface="Cambria" pitchFamily="34" charset="-122"/>
                <a:cs typeface="Cambria" pitchFamily="34" charset="-120"/>
              </a:rPr>
              <a:t>Singh</a:t>
            </a:r>
            <a:endParaRPr lang="en-US" sz="3000" dirty="0"/>
          </a:p>
        </p:txBody>
      </p:sp>
      <p:sp>
        <p:nvSpPr>
          <p:cNvPr id="7" name="Text 4"/>
          <p:cNvSpPr txBox="1"/>
          <p:nvPr/>
        </p:nvSpPr>
        <p:spPr>
          <a:xfrm>
            <a:off x="274320" y="3063240"/>
            <a:ext cx="3291840" cy="640080"/>
          </a:xfrm>
          <a:prstGeom prst="rect">
            <a:avLst/>
          </a:prstGeom>
          <a:noFill/>
          <a:ln/>
        </p:spPr>
        <p:txBody>
          <a:bodyPr wrap="square" lIns="0" tIns="0" rIns="0" bIns="0" rtlCol="0" anchor="ctr"/>
          <a:lstStyle/>
          <a:p>
            <a:pPr algn="ctr" indent="0" marL="0">
              <a:buNone/>
            </a:pPr>
            <a:r>
              <a:rPr lang="en-US" sz="1300" dirty="0">
                <a:solidFill>
                  <a:srgbClr val="B9C2CC"/>
                </a:solidFill>
                <a:latin typeface="Calibri" pitchFamily="34" charset="0"/>
                <a:ea typeface="Calibri" pitchFamily="34" charset="-122"/>
                <a:cs typeface="Calibri" pitchFamily="34" charset="-120"/>
              </a:rPr>
              <a:t>B.Tech – Computer Science &amp;</a:t>
            </a:r>
            <a:endParaRPr lang="en-US" sz="1300" dirty="0"/>
          </a:p>
          <a:p>
            <a:pPr algn="ctr" indent="0" marL="0">
              <a:buNone/>
            </a:pPr>
            <a:r>
              <a:rPr lang="en-US" sz="1300" dirty="0">
                <a:solidFill>
                  <a:srgbClr val="B9C2CC"/>
                </a:solidFill>
                <a:latin typeface="Calibri" pitchFamily="34" charset="0"/>
                <a:ea typeface="Calibri" pitchFamily="34" charset="-122"/>
                <a:cs typeface="Calibri" pitchFamily="34" charset="-120"/>
              </a:rPr>
              <a:t>Engineering (AI/ML)</a:t>
            </a:r>
            <a:endParaRPr lang="en-US" sz="1300" dirty="0"/>
          </a:p>
        </p:txBody>
      </p:sp>
      <p:sp>
        <p:nvSpPr>
          <p:cNvPr id="8" name="Text 5"/>
          <p:cNvSpPr txBox="1"/>
          <p:nvPr/>
        </p:nvSpPr>
        <p:spPr>
          <a:xfrm>
            <a:off x="274320" y="6446520"/>
            <a:ext cx="3291840" cy="274320"/>
          </a:xfrm>
          <a:prstGeom prst="rect">
            <a:avLst/>
          </a:prstGeom>
          <a:noFill/>
          <a:ln/>
        </p:spPr>
        <p:txBody>
          <a:bodyPr wrap="square" lIns="0" tIns="0" rIns="0" bIns="0" rtlCol="0" anchor="ctr"/>
          <a:lstStyle/>
          <a:p>
            <a:pPr indent="0" marL="0">
              <a:buNone/>
            </a:pPr>
            <a:r>
              <a:rPr lang="en-US" sz="900" dirty="0">
                <a:solidFill>
                  <a:srgbClr val="8493A3"/>
                </a:solidFill>
                <a:latin typeface="Calibri" pitchFamily="34" charset="0"/>
                <a:ea typeface="Calibri" pitchFamily="34" charset="-122"/>
                <a:cs typeface="Calibri" pitchFamily="34" charset="-120"/>
              </a:rPr>
              <a:t>Introduction to Modern AI • Pushpendra Singh</a:t>
            </a:r>
            <a:endParaRPr lang="en-US" sz="900" dirty="0"/>
          </a:p>
        </p:txBody>
      </p:sp>
      <p:sp>
        <p:nvSpPr>
          <p:cNvPr id="9" name="Text 6"/>
          <p:cNvSpPr txBox="1"/>
          <p:nvPr/>
        </p:nvSpPr>
        <p:spPr>
          <a:xfrm>
            <a:off x="4297680" y="640080"/>
            <a:ext cx="7315200" cy="320040"/>
          </a:xfrm>
          <a:prstGeom prst="rect">
            <a:avLst/>
          </a:prstGeom>
          <a:noFill/>
          <a:ln/>
        </p:spPr>
        <p:txBody>
          <a:bodyPr wrap="square" lIns="0" tIns="0" rIns="0" bIns="0" rtlCol="0" anchor="ctr"/>
          <a:lstStyle/>
          <a:p>
            <a:pPr indent="0" marL="0">
              <a:buNone/>
            </a:pPr>
            <a:r>
              <a:rPr lang="en-US" sz="1200" b="1" spc="200" kern="0" dirty="0">
                <a:solidFill>
                  <a:srgbClr val="E8890C"/>
                </a:solidFill>
                <a:latin typeface="Calibri" pitchFamily="34" charset="0"/>
                <a:ea typeface="Calibri" pitchFamily="34" charset="-122"/>
                <a:cs typeface="Calibri" pitchFamily="34" charset="-120"/>
              </a:rPr>
              <a:t>ABOUT THE STUDENT</a:t>
            </a:r>
            <a:endParaRPr lang="en-US" sz="1200" dirty="0"/>
          </a:p>
        </p:txBody>
      </p:sp>
      <p:sp>
        <p:nvSpPr>
          <p:cNvPr id="10" name="Text 7"/>
          <p:cNvSpPr txBox="1"/>
          <p:nvPr/>
        </p:nvSpPr>
        <p:spPr>
          <a:xfrm>
            <a:off x="4251960" y="960120"/>
            <a:ext cx="7315200" cy="548640"/>
          </a:xfrm>
          <a:prstGeom prst="rect">
            <a:avLst/>
          </a:prstGeom>
          <a:noFill/>
          <a:ln/>
        </p:spPr>
        <p:txBody>
          <a:bodyPr wrap="square" lIns="0" tIns="0" rIns="0" bIns="0" rtlCol="0" anchor="ctr"/>
          <a:lstStyle/>
          <a:p>
            <a:pPr indent="0" marL="0">
              <a:buNone/>
            </a:pPr>
            <a:r>
              <a:rPr lang="en-US" sz="2800" b="1" dirty="0">
                <a:solidFill>
                  <a:srgbClr val="1C2B39"/>
                </a:solidFill>
                <a:latin typeface="Cambria" pitchFamily="34" charset="0"/>
                <a:ea typeface="Cambria" pitchFamily="34" charset="-122"/>
                <a:cs typeface="Cambria" pitchFamily="34" charset="-120"/>
              </a:rPr>
              <a:t>Candidate Profile</a:t>
            </a:r>
            <a:endParaRPr lang="en-US" sz="2800" dirty="0"/>
          </a:p>
        </p:txBody>
      </p:sp>
      <p:sp>
        <p:nvSpPr>
          <p:cNvPr id="11" name="Shape 8"/>
          <p:cNvSpPr/>
          <p:nvPr/>
        </p:nvSpPr>
        <p:spPr>
          <a:xfrm>
            <a:off x="4251960" y="1783080"/>
            <a:ext cx="457200" cy="457200"/>
          </a:xfrm>
          <a:prstGeom prst="ellipse">
            <a:avLst/>
          </a:prstGeom>
          <a:solidFill>
            <a:srgbClr val="E7E9EB"/>
          </a:solidFill>
          <a:ln/>
        </p:spPr>
      </p:sp>
      <p:pic>
        <p:nvPicPr>
          <p:cNvPr id="12" name="Image 1" descr="/home/claude/ppt/icons/idcard_navy.png">    </p:cNvPr>
          <p:cNvPicPr>
            <a:picLocks noChangeAspect="1"/>
          </p:cNvPicPr>
          <p:nvPr/>
        </p:nvPicPr>
        <p:blipFill>
          <a:blip r:embed="rId2"/>
          <a:stretch>
            <a:fillRect/>
          </a:stretch>
        </p:blipFill>
        <p:spPr>
          <a:xfrm>
            <a:off x="4354830" y="1885950"/>
            <a:ext cx="251460" cy="251460"/>
          </a:xfrm>
          <a:prstGeom prst="rect">
            <a:avLst/>
          </a:prstGeom>
        </p:spPr>
      </p:pic>
      <p:sp>
        <p:nvSpPr>
          <p:cNvPr id="13" name="Text 9"/>
          <p:cNvSpPr txBox="1"/>
          <p:nvPr/>
        </p:nvSpPr>
        <p:spPr>
          <a:xfrm>
            <a:off x="4892040" y="1764792"/>
            <a:ext cx="5486400" cy="274320"/>
          </a:xfrm>
          <a:prstGeom prst="rect">
            <a:avLst/>
          </a:prstGeom>
          <a:noFill/>
          <a:ln/>
        </p:spPr>
        <p:txBody>
          <a:bodyPr wrap="square" lIns="0" tIns="0" rIns="0" bIns="0" rtlCol="0" anchor="ctr"/>
          <a:lstStyle/>
          <a:p>
            <a:pPr indent="0" marL="0">
              <a:buNone/>
            </a:pPr>
            <a:r>
              <a:rPr lang="en-US" sz="1100" b="1" spc="100" kern="0" dirty="0">
                <a:solidFill>
                  <a:srgbClr val="E8890C"/>
                </a:solidFill>
                <a:latin typeface="Calibri" pitchFamily="34" charset="0"/>
                <a:ea typeface="Calibri" pitchFamily="34" charset="-122"/>
                <a:cs typeface="Calibri" pitchFamily="34" charset="-120"/>
              </a:rPr>
              <a:t>ROLL NUMBER</a:t>
            </a:r>
            <a:endParaRPr lang="en-US" sz="1100" dirty="0"/>
          </a:p>
        </p:txBody>
      </p:sp>
      <p:sp>
        <p:nvSpPr>
          <p:cNvPr id="14" name="Text 10"/>
          <p:cNvSpPr txBox="1"/>
          <p:nvPr/>
        </p:nvSpPr>
        <p:spPr>
          <a:xfrm>
            <a:off x="4892040" y="2002536"/>
            <a:ext cx="6675120" cy="320040"/>
          </a:xfrm>
          <a:prstGeom prst="rect">
            <a:avLst/>
          </a:prstGeom>
          <a:noFill/>
          <a:ln/>
        </p:spPr>
        <p:txBody>
          <a:bodyPr wrap="square" lIns="0" tIns="0" rIns="0" bIns="0" rtlCol="0" anchor="ctr"/>
          <a:lstStyle/>
          <a:p>
            <a:pPr indent="0" marL="0">
              <a:buNone/>
            </a:pPr>
            <a:r>
              <a:rPr lang="en-US" sz="1500" dirty="0">
                <a:solidFill>
                  <a:srgbClr val="1C2B39"/>
                </a:solidFill>
                <a:latin typeface="Calibri" pitchFamily="34" charset="0"/>
                <a:ea typeface="Calibri" pitchFamily="34" charset="-122"/>
                <a:cs typeface="Calibri" pitchFamily="34" charset="-120"/>
              </a:rPr>
              <a:t>2410030810</a:t>
            </a:r>
            <a:endParaRPr lang="en-US" sz="1500" dirty="0"/>
          </a:p>
        </p:txBody>
      </p:sp>
      <p:sp>
        <p:nvSpPr>
          <p:cNvPr id="15" name="Shape 11"/>
          <p:cNvSpPr/>
          <p:nvPr/>
        </p:nvSpPr>
        <p:spPr>
          <a:xfrm>
            <a:off x="4251960" y="2624328"/>
            <a:ext cx="457200" cy="457200"/>
          </a:xfrm>
          <a:prstGeom prst="ellipse">
            <a:avLst/>
          </a:prstGeom>
          <a:solidFill>
            <a:srgbClr val="E7E9EB"/>
          </a:solidFill>
          <a:ln/>
        </p:spPr>
      </p:sp>
      <p:pic>
        <p:nvPicPr>
          <p:cNvPr id="16" name="Image 2" descr="/home/claude/ppt/icons/bank_navy.png">    </p:cNvPr>
          <p:cNvPicPr>
            <a:picLocks noChangeAspect="1"/>
          </p:cNvPicPr>
          <p:nvPr/>
        </p:nvPicPr>
        <p:blipFill>
          <a:blip r:embed="rId3"/>
          <a:stretch>
            <a:fillRect/>
          </a:stretch>
        </p:blipFill>
        <p:spPr>
          <a:xfrm>
            <a:off x="4354830" y="2727198"/>
            <a:ext cx="251460" cy="251460"/>
          </a:xfrm>
          <a:prstGeom prst="rect">
            <a:avLst/>
          </a:prstGeom>
        </p:spPr>
      </p:pic>
      <p:sp>
        <p:nvSpPr>
          <p:cNvPr id="17" name="Text 12"/>
          <p:cNvSpPr txBox="1"/>
          <p:nvPr/>
        </p:nvSpPr>
        <p:spPr>
          <a:xfrm>
            <a:off x="4892040" y="2606040"/>
            <a:ext cx="5486400" cy="274320"/>
          </a:xfrm>
          <a:prstGeom prst="rect">
            <a:avLst/>
          </a:prstGeom>
          <a:noFill/>
          <a:ln/>
        </p:spPr>
        <p:txBody>
          <a:bodyPr wrap="square" lIns="0" tIns="0" rIns="0" bIns="0" rtlCol="0" anchor="ctr"/>
          <a:lstStyle/>
          <a:p>
            <a:pPr indent="0" marL="0">
              <a:buNone/>
            </a:pPr>
            <a:r>
              <a:rPr lang="en-US" sz="1100" b="1" spc="100" kern="0" dirty="0">
                <a:solidFill>
                  <a:srgbClr val="E8890C"/>
                </a:solidFill>
                <a:latin typeface="Calibri" pitchFamily="34" charset="0"/>
                <a:ea typeface="Calibri" pitchFamily="34" charset="-122"/>
                <a:cs typeface="Calibri" pitchFamily="34" charset="-120"/>
              </a:rPr>
              <a:t>INSTITUTE</a:t>
            </a:r>
            <a:endParaRPr lang="en-US" sz="1100" dirty="0"/>
          </a:p>
        </p:txBody>
      </p:sp>
      <p:sp>
        <p:nvSpPr>
          <p:cNvPr id="18" name="Text 13"/>
          <p:cNvSpPr txBox="1"/>
          <p:nvPr/>
        </p:nvSpPr>
        <p:spPr>
          <a:xfrm>
            <a:off x="4892040" y="2843784"/>
            <a:ext cx="6675120" cy="320040"/>
          </a:xfrm>
          <a:prstGeom prst="rect">
            <a:avLst/>
          </a:prstGeom>
          <a:noFill/>
          <a:ln/>
        </p:spPr>
        <p:txBody>
          <a:bodyPr wrap="square" lIns="0" tIns="0" rIns="0" bIns="0" rtlCol="0" anchor="ctr"/>
          <a:lstStyle/>
          <a:p>
            <a:pPr indent="0" marL="0">
              <a:buNone/>
            </a:pPr>
            <a:r>
              <a:rPr lang="en-US" sz="1500" dirty="0">
                <a:solidFill>
                  <a:srgbClr val="1C2B39"/>
                </a:solidFill>
                <a:latin typeface="Calibri" pitchFamily="34" charset="0"/>
                <a:ea typeface="Calibri" pitchFamily="34" charset="-122"/>
                <a:cs typeface="Calibri" pitchFamily="34" charset="-120"/>
              </a:rPr>
              <a:t>IILM University, Greater Noida, U.P.</a:t>
            </a:r>
            <a:endParaRPr lang="en-US" sz="1500" dirty="0"/>
          </a:p>
        </p:txBody>
      </p:sp>
      <p:sp>
        <p:nvSpPr>
          <p:cNvPr id="19" name="Shape 14"/>
          <p:cNvSpPr/>
          <p:nvPr/>
        </p:nvSpPr>
        <p:spPr>
          <a:xfrm>
            <a:off x="4251960" y="3465576"/>
            <a:ext cx="457200" cy="457200"/>
          </a:xfrm>
          <a:prstGeom prst="ellipse">
            <a:avLst/>
          </a:prstGeom>
          <a:solidFill>
            <a:srgbClr val="E7E9EB"/>
          </a:solidFill>
          <a:ln/>
        </p:spPr>
      </p:sp>
      <p:pic>
        <p:nvPicPr>
          <p:cNvPr id="20" name="Image 3" descr="/home/claude/ppt/icons/gradcap_navy.png">    </p:cNvPr>
          <p:cNvPicPr>
            <a:picLocks noChangeAspect="1"/>
          </p:cNvPicPr>
          <p:nvPr/>
        </p:nvPicPr>
        <p:blipFill>
          <a:blip r:embed="rId4"/>
          <a:stretch>
            <a:fillRect/>
          </a:stretch>
        </p:blipFill>
        <p:spPr>
          <a:xfrm>
            <a:off x="4354830" y="3568446"/>
            <a:ext cx="251460" cy="251460"/>
          </a:xfrm>
          <a:prstGeom prst="rect">
            <a:avLst/>
          </a:prstGeom>
        </p:spPr>
      </p:pic>
      <p:sp>
        <p:nvSpPr>
          <p:cNvPr id="21" name="Text 15"/>
          <p:cNvSpPr txBox="1"/>
          <p:nvPr/>
        </p:nvSpPr>
        <p:spPr>
          <a:xfrm>
            <a:off x="4892040" y="3447288"/>
            <a:ext cx="5486400" cy="274320"/>
          </a:xfrm>
          <a:prstGeom prst="rect">
            <a:avLst/>
          </a:prstGeom>
          <a:noFill/>
          <a:ln/>
        </p:spPr>
        <p:txBody>
          <a:bodyPr wrap="square" lIns="0" tIns="0" rIns="0" bIns="0" rtlCol="0" anchor="ctr"/>
          <a:lstStyle/>
          <a:p>
            <a:pPr indent="0" marL="0">
              <a:buNone/>
            </a:pPr>
            <a:r>
              <a:rPr lang="en-US" sz="1100" b="1" spc="100" kern="0" dirty="0">
                <a:solidFill>
                  <a:srgbClr val="E8890C"/>
                </a:solidFill>
                <a:latin typeface="Calibri" pitchFamily="34" charset="0"/>
                <a:ea typeface="Calibri" pitchFamily="34" charset="-122"/>
                <a:cs typeface="Calibri" pitchFamily="34" charset="-120"/>
              </a:rPr>
              <a:t>PROGRAMME</a:t>
            </a:r>
            <a:endParaRPr lang="en-US" sz="1100" dirty="0"/>
          </a:p>
        </p:txBody>
      </p:sp>
      <p:sp>
        <p:nvSpPr>
          <p:cNvPr id="22" name="Text 16"/>
          <p:cNvSpPr txBox="1"/>
          <p:nvPr/>
        </p:nvSpPr>
        <p:spPr>
          <a:xfrm>
            <a:off x="4892040" y="3685032"/>
            <a:ext cx="6675120" cy="320040"/>
          </a:xfrm>
          <a:prstGeom prst="rect">
            <a:avLst/>
          </a:prstGeom>
          <a:noFill/>
          <a:ln/>
        </p:spPr>
        <p:txBody>
          <a:bodyPr wrap="square" lIns="0" tIns="0" rIns="0" bIns="0" rtlCol="0" anchor="ctr"/>
          <a:lstStyle/>
          <a:p>
            <a:pPr indent="0" marL="0">
              <a:buNone/>
            </a:pPr>
            <a:r>
              <a:rPr lang="en-US" sz="1500" dirty="0">
                <a:solidFill>
                  <a:srgbClr val="1C2B39"/>
                </a:solidFill>
                <a:latin typeface="Calibri" pitchFamily="34" charset="0"/>
                <a:ea typeface="Calibri" pitchFamily="34" charset="-122"/>
                <a:cs typeface="Calibri" pitchFamily="34" charset="-120"/>
              </a:rPr>
              <a:t>B.Tech CSE (AI/ML), Batch 2024–2028</a:t>
            </a:r>
            <a:endParaRPr lang="en-US" sz="1500" dirty="0"/>
          </a:p>
        </p:txBody>
      </p:sp>
      <p:sp>
        <p:nvSpPr>
          <p:cNvPr id="23" name="Shape 17"/>
          <p:cNvSpPr/>
          <p:nvPr/>
        </p:nvSpPr>
        <p:spPr>
          <a:xfrm>
            <a:off x="4251960" y="4306824"/>
            <a:ext cx="457200" cy="457200"/>
          </a:xfrm>
          <a:prstGeom prst="ellipse">
            <a:avLst/>
          </a:prstGeom>
          <a:solidFill>
            <a:srgbClr val="E7E9EB"/>
          </a:solidFill>
          <a:ln/>
        </p:spPr>
      </p:sp>
      <p:pic>
        <p:nvPicPr>
          <p:cNvPr id="24" name="Image 4" descr="/home/claude/ppt/icons/book_navy.png">    </p:cNvPr>
          <p:cNvPicPr>
            <a:picLocks noChangeAspect="1"/>
          </p:cNvPicPr>
          <p:nvPr/>
        </p:nvPicPr>
        <p:blipFill>
          <a:blip r:embed="rId5"/>
          <a:stretch>
            <a:fillRect/>
          </a:stretch>
        </p:blipFill>
        <p:spPr>
          <a:xfrm>
            <a:off x="4354830" y="4409694"/>
            <a:ext cx="251460" cy="251460"/>
          </a:xfrm>
          <a:prstGeom prst="rect">
            <a:avLst/>
          </a:prstGeom>
        </p:spPr>
      </p:pic>
      <p:sp>
        <p:nvSpPr>
          <p:cNvPr id="25" name="Text 18"/>
          <p:cNvSpPr txBox="1"/>
          <p:nvPr/>
        </p:nvSpPr>
        <p:spPr>
          <a:xfrm>
            <a:off x="4892040" y="4288536"/>
            <a:ext cx="5486400" cy="274320"/>
          </a:xfrm>
          <a:prstGeom prst="rect">
            <a:avLst/>
          </a:prstGeom>
          <a:noFill/>
          <a:ln/>
        </p:spPr>
        <p:txBody>
          <a:bodyPr wrap="square" lIns="0" tIns="0" rIns="0" bIns="0" rtlCol="0" anchor="ctr"/>
          <a:lstStyle/>
          <a:p>
            <a:pPr indent="0" marL="0">
              <a:buNone/>
            </a:pPr>
            <a:r>
              <a:rPr lang="en-US" sz="1100" b="1" spc="100" kern="0" dirty="0">
                <a:solidFill>
                  <a:srgbClr val="E8890C"/>
                </a:solidFill>
                <a:latin typeface="Calibri" pitchFamily="34" charset="0"/>
                <a:ea typeface="Calibri" pitchFamily="34" charset="-122"/>
                <a:cs typeface="Calibri" pitchFamily="34" charset="-120"/>
              </a:rPr>
              <a:t>COURSE</a:t>
            </a:r>
            <a:endParaRPr lang="en-US" sz="1100" dirty="0"/>
          </a:p>
        </p:txBody>
      </p:sp>
      <p:sp>
        <p:nvSpPr>
          <p:cNvPr id="26" name="Text 19"/>
          <p:cNvSpPr txBox="1"/>
          <p:nvPr/>
        </p:nvSpPr>
        <p:spPr>
          <a:xfrm>
            <a:off x="4892040" y="4526280"/>
            <a:ext cx="6675120" cy="320040"/>
          </a:xfrm>
          <a:prstGeom prst="rect">
            <a:avLst/>
          </a:prstGeom>
          <a:noFill/>
          <a:ln/>
        </p:spPr>
        <p:txBody>
          <a:bodyPr wrap="square" lIns="0" tIns="0" rIns="0" bIns="0" rtlCol="0" anchor="ctr"/>
          <a:lstStyle/>
          <a:p>
            <a:pPr indent="0" marL="0">
              <a:buNone/>
            </a:pPr>
            <a:r>
              <a:rPr lang="en-US" sz="1500" dirty="0">
                <a:solidFill>
                  <a:srgbClr val="1C2B39"/>
                </a:solidFill>
                <a:latin typeface="Calibri" pitchFamily="34" charset="0"/>
                <a:ea typeface="Calibri" pitchFamily="34" charset="-122"/>
                <a:cs typeface="Calibri" pitchFamily="34" charset="-120"/>
              </a:rPr>
              <a:t>Introduction to Modern AI</a:t>
            </a:r>
            <a:endParaRPr lang="en-US" sz="1500" dirty="0"/>
          </a:p>
        </p:txBody>
      </p:sp>
      <p:sp>
        <p:nvSpPr>
          <p:cNvPr id="27" name="Shape 20"/>
          <p:cNvSpPr/>
          <p:nvPr/>
        </p:nvSpPr>
        <p:spPr>
          <a:xfrm>
            <a:off x="4251960" y="5148072"/>
            <a:ext cx="457200" cy="457200"/>
          </a:xfrm>
          <a:prstGeom prst="ellipse">
            <a:avLst/>
          </a:prstGeom>
          <a:solidFill>
            <a:srgbClr val="E7E9EB"/>
          </a:solidFill>
          <a:ln/>
        </p:spPr>
      </p:sp>
      <p:pic>
        <p:nvPicPr>
          <p:cNvPr id="28" name="Image 5" descr="/home/claude/ppt/icons/calendar_navy.png">    </p:cNvPr>
          <p:cNvPicPr>
            <a:picLocks noChangeAspect="1"/>
          </p:cNvPicPr>
          <p:nvPr/>
        </p:nvPicPr>
        <p:blipFill>
          <a:blip r:embed="rId6"/>
          <a:stretch>
            <a:fillRect/>
          </a:stretch>
        </p:blipFill>
        <p:spPr>
          <a:xfrm>
            <a:off x="4354830" y="5250942"/>
            <a:ext cx="251460" cy="251460"/>
          </a:xfrm>
          <a:prstGeom prst="rect">
            <a:avLst/>
          </a:prstGeom>
        </p:spPr>
      </p:pic>
      <p:sp>
        <p:nvSpPr>
          <p:cNvPr id="29" name="Text 21"/>
          <p:cNvSpPr txBox="1"/>
          <p:nvPr/>
        </p:nvSpPr>
        <p:spPr>
          <a:xfrm>
            <a:off x="4892040" y="5129784"/>
            <a:ext cx="5486400" cy="274320"/>
          </a:xfrm>
          <a:prstGeom prst="rect">
            <a:avLst/>
          </a:prstGeom>
          <a:noFill/>
          <a:ln/>
        </p:spPr>
        <p:txBody>
          <a:bodyPr wrap="square" lIns="0" tIns="0" rIns="0" bIns="0" rtlCol="0" anchor="ctr"/>
          <a:lstStyle/>
          <a:p>
            <a:pPr indent="0" marL="0">
              <a:buNone/>
            </a:pPr>
            <a:r>
              <a:rPr lang="en-US" sz="1100" b="1" spc="100" kern="0" dirty="0">
                <a:solidFill>
                  <a:srgbClr val="E8890C"/>
                </a:solidFill>
                <a:latin typeface="Calibri" pitchFamily="34" charset="0"/>
                <a:ea typeface="Calibri" pitchFamily="34" charset="-122"/>
                <a:cs typeface="Calibri" pitchFamily="34" charset="-120"/>
              </a:rPr>
              <a:t>COMPLETION DATE</a:t>
            </a:r>
            <a:endParaRPr lang="en-US" sz="1100" dirty="0"/>
          </a:p>
        </p:txBody>
      </p:sp>
      <p:sp>
        <p:nvSpPr>
          <p:cNvPr id="30" name="Text 22"/>
          <p:cNvSpPr txBox="1"/>
          <p:nvPr/>
        </p:nvSpPr>
        <p:spPr>
          <a:xfrm>
            <a:off x="4892040" y="5367528"/>
            <a:ext cx="6675120" cy="320040"/>
          </a:xfrm>
          <a:prstGeom prst="rect">
            <a:avLst/>
          </a:prstGeom>
          <a:noFill/>
          <a:ln/>
        </p:spPr>
        <p:txBody>
          <a:bodyPr wrap="square" lIns="0" tIns="0" rIns="0" bIns="0" rtlCol="0" anchor="ctr"/>
          <a:lstStyle/>
          <a:p>
            <a:pPr indent="0" marL="0">
              <a:buNone/>
            </a:pPr>
            <a:r>
              <a:rPr lang="en-US" sz="1500" dirty="0">
                <a:solidFill>
                  <a:srgbClr val="1C2B39"/>
                </a:solidFill>
                <a:latin typeface="Calibri" pitchFamily="34" charset="0"/>
                <a:ea typeface="Calibri" pitchFamily="34" charset="-122"/>
                <a:cs typeface="Calibri" pitchFamily="34" charset="-120"/>
              </a:rPr>
              <a:t>18 June 2026</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3F4"/>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E8890C"/>
                </a:solidFill>
                <a:latin typeface="Calibri" pitchFamily="34" charset="0"/>
                <a:ea typeface="Calibri" pitchFamily="34" charset="-122"/>
                <a:cs typeface="Calibri" pitchFamily="34" charset="-120"/>
              </a:rPr>
              <a:t>ABOUT THE PROGRAM</a:t>
            </a:r>
            <a:endParaRPr lang="en-US" sz="1200" dirty="0"/>
          </a:p>
        </p:txBody>
      </p:sp>
      <p:sp>
        <p:nvSpPr>
          <p:cNvPr id="3" name="Text 1"/>
          <p:cNvSpPr txBox="1"/>
          <p:nvPr/>
        </p:nvSpPr>
        <p:spPr>
          <a:xfrm>
            <a:off x="502920" y="777240"/>
            <a:ext cx="10058400" cy="548640"/>
          </a:xfrm>
          <a:prstGeom prst="rect">
            <a:avLst/>
          </a:prstGeom>
          <a:noFill/>
          <a:ln/>
        </p:spPr>
        <p:txBody>
          <a:bodyPr wrap="square" lIns="0" tIns="0" rIns="0" bIns="0" rtlCol="0" anchor="ctr"/>
          <a:lstStyle/>
          <a:p>
            <a:pPr indent="0" marL="0">
              <a:buNone/>
            </a:pPr>
            <a:r>
              <a:rPr lang="en-US" sz="2800" b="1" dirty="0">
                <a:solidFill>
                  <a:srgbClr val="1C2B39"/>
                </a:solidFill>
                <a:latin typeface="Cambria" pitchFamily="34" charset="0"/>
                <a:ea typeface="Cambria" pitchFamily="34" charset="-122"/>
                <a:cs typeface="Cambria" pitchFamily="34" charset="-120"/>
              </a:rPr>
              <a:t>Cisco Networking Academy &amp; Apply AI</a:t>
            </a:r>
            <a:endParaRPr lang="en-US" sz="2800" dirty="0"/>
          </a:p>
        </p:txBody>
      </p:sp>
      <p:sp>
        <p:nvSpPr>
          <p:cNvPr id="4" name="Text 2"/>
          <p:cNvSpPr txBox="1"/>
          <p:nvPr/>
        </p:nvSpPr>
        <p:spPr>
          <a:xfrm>
            <a:off x="502920" y="1417320"/>
            <a:ext cx="11064240" cy="1005840"/>
          </a:xfrm>
          <a:prstGeom prst="rect">
            <a:avLst/>
          </a:prstGeom>
          <a:noFill/>
          <a:ln/>
        </p:spPr>
        <p:txBody>
          <a:bodyPr wrap="square" lIns="0" tIns="0" rIns="0" bIns="0" rtlCol="0" anchor="t"/>
          <a:lstStyle/>
          <a:p>
            <a:pPr indent="0" marL="0">
              <a:buNone/>
            </a:pPr>
            <a:r>
              <a:rPr lang="en-US" sz="1400" dirty="0">
                <a:solidFill>
                  <a:srgbClr val="3A4653"/>
                </a:solidFill>
                <a:latin typeface="Calibri" pitchFamily="34" charset="0"/>
                <a:ea typeface="Calibri" pitchFamily="34" charset="-122"/>
                <a:cs typeface="Calibri" pitchFamily="34" charset="-120"/>
              </a:rPr>
              <a:t>Cisco Networking Academy is Cisco's global IT and digital-skills education program, delivering free courses to millions of learners through its NetAcad platform. As part of its “Apply AI” learning collection, it designed “Introduction to Modern AI” to give beginners a practical, hands-on introduction to using modern AI tools in everyday and professional life.</a:t>
            </a:r>
            <a:endParaRPr lang="en-US" sz="1400" dirty="0"/>
          </a:p>
        </p:txBody>
      </p:sp>
      <p:sp>
        <p:nvSpPr>
          <p:cNvPr id="5" name="Shape 3"/>
          <p:cNvSpPr/>
          <p:nvPr/>
        </p:nvSpPr>
        <p:spPr>
          <a:xfrm>
            <a:off x="502920" y="2697480"/>
            <a:ext cx="3520440" cy="2880360"/>
          </a:xfrm>
          <a:prstGeom prst="roundRect">
            <a:avLst>
              <a:gd name="adj" fmla="val 2540"/>
            </a:avLst>
          </a:prstGeom>
          <a:solidFill>
            <a:srgbClr val="FFFFFF"/>
          </a:solidFill>
          <a:ln/>
          <a:effectLst>
            <a:outerShdw sx="100000" sy="100000" kx="0" ky="0" algn="bl" rotWithShape="0" blurRad="101600" dist="38100" dir="5400000">
              <a:srgbClr val="000000">
                <a:alpha val="12000"/>
              </a:srgbClr>
            </a:outerShdw>
          </a:effectLst>
        </p:spPr>
      </p:sp>
      <p:sp>
        <p:nvSpPr>
          <p:cNvPr id="6" name="Shape 4"/>
          <p:cNvSpPr/>
          <p:nvPr/>
        </p:nvSpPr>
        <p:spPr>
          <a:xfrm>
            <a:off x="1851660" y="3108960"/>
            <a:ext cx="822960" cy="822960"/>
          </a:xfrm>
          <a:prstGeom prst="ellipse">
            <a:avLst/>
          </a:prstGeom>
          <a:solidFill>
            <a:srgbClr val="E7E9EB"/>
          </a:solidFill>
          <a:ln/>
        </p:spPr>
      </p:sp>
      <p:pic>
        <p:nvPicPr>
          <p:cNvPr id="7" name="Image 0" descr="/home/claude/ppt/icons/globe_navy.png">    </p:cNvPr>
          <p:cNvPicPr>
            <a:picLocks noChangeAspect="1"/>
          </p:cNvPicPr>
          <p:nvPr/>
        </p:nvPicPr>
        <p:blipFill>
          <a:blip r:embed="rId1"/>
          <a:stretch>
            <a:fillRect/>
          </a:stretch>
        </p:blipFill>
        <p:spPr>
          <a:xfrm>
            <a:off x="2057400" y="3314700"/>
            <a:ext cx="411480" cy="411480"/>
          </a:xfrm>
          <a:prstGeom prst="rect">
            <a:avLst/>
          </a:prstGeom>
        </p:spPr>
      </p:pic>
      <p:sp>
        <p:nvSpPr>
          <p:cNvPr id="8" name="Text 5"/>
          <p:cNvSpPr txBox="1"/>
          <p:nvPr/>
        </p:nvSpPr>
        <p:spPr>
          <a:xfrm>
            <a:off x="685800" y="4160520"/>
            <a:ext cx="3154680" cy="365760"/>
          </a:xfrm>
          <a:prstGeom prst="rect">
            <a:avLst/>
          </a:prstGeom>
          <a:noFill/>
          <a:ln/>
        </p:spPr>
        <p:txBody>
          <a:bodyPr wrap="square" lIns="0" tIns="0" rIns="0" bIns="0" rtlCol="0" anchor="ctr"/>
          <a:lstStyle/>
          <a:p>
            <a:pPr algn="ctr" indent="0" marL="0">
              <a:buNone/>
            </a:pPr>
            <a:r>
              <a:rPr lang="en-US" sz="1600" b="1" dirty="0">
                <a:solidFill>
                  <a:srgbClr val="1C2B39"/>
                </a:solidFill>
                <a:latin typeface="Calibri" pitchFamily="34" charset="0"/>
                <a:ea typeface="Calibri" pitchFamily="34" charset="-122"/>
                <a:cs typeface="Calibri" pitchFamily="34" charset="-120"/>
              </a:rPr>
              <a:t>Global &amp; Free</a:t>
            </a:r>
            <a:endParaRPr lang="en-US" sz="1600" dirty="0"/>
          </a:p>
        </p:txBody>
      </p:sp>
      <p:sp>
        <p:nvSpPr>
          <p:cNvPr id="9" name="Text 6"/>
          <p:cNvSpPr txBox="1"/>
          <p:nvPr/>
        </p:nvSpPr>
        <p:spPr>
          <a:xfrm>
            <a:off x="777240" y="4572000"/>
            <a:ext cx="2971800" cy="822960"/>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Free, self-paced digital-skills training delivered to learners worldwide.</a:t>
            </a:r>
            <a:endParaRPr lang="en-US" sz="1200" dirty="0"/>
          </a:p>
        </p:txBody>
      </p:sp>
      <p:sp>
        <p:nvSpPr>
          <p:cNvPr id="10" name="Shape 7"/>
          <p:cNvSpPr/>
          <p:nvPr/>
        </p:nvSpPr>
        <p:spPr>
          <a:xfrm>
            <a:off x="4343400" y="2697480"/>
            <a:ext cx="3520440" cy="2880360"/>
          </a:xfrm>
          <a:prstGeom prst="roundRect">
            <a:avLst>
              <a:gd name="adj" fmla="val 2540"/>
            </a:avLst>
          </a:prstGeom>
          <a:solidFill>
            <a:srgbClr val="FFFFFF"/>
          </a:solidFill>
          <a:ln/>
          <a:effectLst>
            <a:outerShdw sx="100000" sy="100000" kx="0" ky="0" algn="bl" rotWithShape="0" blurRad="101600" dist="38100" dir="5400000">
              <a:srgbClr val="000000">
                <a:alpha val="12000"/>
              </a:srgbClr>
            </a:outerShdw>
          </a:effectLst>
        </p:spPr>
      </p:sp>
      <p:sp>
        <p:nvSpPr>
          <p:cNvPr id="11" name="Shape 8"/>
          <p:cNvSpPr/>
          <p:nvPr/>
        </p:nvSpPr>
        <p:spPr>
          <a:xfrm>
            <a:off x="5692140" y="3108960"/>
            <a:ext cx="822960" cy="822960"/>
          </a:xfrm>
          <a:prstGeom prst="ellipse">
            <a:avLst/>
          </a:prstGeom>
          <a:solidFill>
            <a:srgbClr val="E7E9EB"/>
          </a:solidFill>
          <a:ln/>
        </p:spPr>
      </p:sp>
      <p:pic>
        <p:nvPicPr>
          <p:cNvPr id="12" name="Image 1" descr="/home/claude/ppt/icons/puzzle_navy.png">    </p:cNvPr>
          <p:cNvPicPr>
            <a:picLocks noChangeAspect="1"/>
          </p:cNvPicPr>
          <p:nvPr/>
        </p:nvPicPr>
        <p:blipFill>
          <a:blip r:embed="rId2"/>
          <a:stretch>
            <a:fillRect/>
          </a:stretch>
        </p:blipFill>
        <p:spPr>
          <a:xfrm>
            <a:off x="5897880" y="3314700"/>
            <a:ext cx="411480" cy="411480"/>
          </a:xfrm>
          <a:prstGeom prst="rect">
            <a:avLst/>
          </a:prstGeom>
        </p:spPr>
      </p:pic>
      <p:sp>
        <p:nvSpPr>
          <p:cNvPr id="13" name="Text 9"/>
          <p:cNvSpPr txBox="1"/>
          <p:nvPr/>
        </p:nvSpPr>
        <p:spPr>
          <a:xfrm>
            <a:off x="4526280" y="4160520"/>
            <a:ext cx="3154680" cy="365760"/>
          </a:xfrm>
          <a:prstGeom prst="rect">
            <a:avLst/>
          </a:prstGeom>
          <a:noFill/>
          <a:ln/>
        </p:spPr>
        <p:txBody>
          <a:bodyPr wrap="square" lIns="0" tIns="0" rIns="0" bIns="0" rtlCol="0" anchor="ctr"/>
          <a:lstStyle/>
          <a:p>
            <a:pPr algn="ctr" indent="0" marL="0">
              <a:buNone/>
            </a:pPr>
            <a:r>
              <a:rPr lang="en-US" sz="1600" b="1" dirty="0">
                <a:solidFill>
                  <a:srgbClr val="1C2B39"/>
                </a:solidFill>
                <a:latin typeface="Calibri" pitchFamily="34" charset="0"/>
                <a:ea typeface="Calibri" pitchFamily="34" charset="-122"/>
                <a:cs typeface="Calibri" pitchFamily="34" charset="-120"/>
              </a:rPr>
              <a:t>Apply AI Collection</a:t>
            </a:r>
            <a:endParaRPr lang="en-US" sz="1600" dirty="0"/>
          </a:p>
        </p:txBody>
      </p:sp>
      <p:sp>
        <p:nvSpPr>
          <p:cNvPr id="14" name="Text 10"/>
          <p:cNvSpPr txBox="1"/>
          <p:nvPr/>
        </p:nvSpPr>
        <p:spPr>
          <a:xfrm>
            <a:off x="4617720" y="4572000"/>
            <a:ext cx="2971800" cy="822960"/>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Part of a hands-on series built for practical, real-world AI use.</a:t>
            </a:r>
            <a:endParaRPr lang="en-US" sz="1200" dirty="0"/>
          </a:p>
        </p:txBody>
      </p:sp>
      <p:sp>
        <p:nvSpPr>
          <p:cNvPr id="15" name="Shape 11"/>
          <p:cNvSpPr/>
          <p:nvPr/>
        </p:nvSpPr>
        <p:spPr>
          <a:xfrm>
            <a:off x="8183880" y="2697480"/>
            <a:ext cx="3520440" cy="2880360"/>
          </a:xfrm>
          <a:prstGeom prst="roundRect">
            <a:avLst>
              <a:gd name="adj" fmla="val 2540"/>
            </a:avLst>
          </a:prstGeom>
          <a:solidFill>
            <a:srgbClr val="FFFFFF"/>
          </a:solidFill>
          <a:ln/>
          <a:effectLst>
            <a:outerShdw sx="100000" sy="100000" kx="0" ky="0" algn="bl" rotWithShape="0" blurRad="101600" dist="38100" dir="5400000">
              <a:srgbClr val="000000">
                <a:alpha val="12000"/>
              </a:srgbClr>
            </a:outerShdw>
          </a:effectLst>
        </p:spPr>
      </p:sp>
      <p:sp>
        <p:nvSpPr>
          <p:cNvPr id="16" name="Shape 12"/>
          <p:cNvSpPr/>
          <p:nvPr/>
        </p:nvSpPr>
        <p:spPr>
          <a:xfrm>
            <a:off x="9532620" y="3108960"/>
            <a:ext cx="822960" cy="822960"/>
          </a:xfrm>
          <a:prstGeom prst="ellipse">
            <a:avLst/>
          </a:prstGeom>
          <a:solidFill>
            <a:srgbClr val="E7E9EB"/>
          </a:solidFill>
          <a:ln/>
        </p:spPr>
      </p:sp>
      <p:pic>
        <p:nvPicPr>
          <p:cNvPr id="17" name="Image 2" descr="/home/claude/ppt/icons/cloud_navy.png">    </p:cNvPr>
          <p:cNvPicPr>
            <a:picLocks noChangeAspect="1"/>
          </p:cNvPicPr>
          <p:nvPr/>
        </p:nvPicPr>
        <p:blipFill>
          <a:blip r:embed="rId3"/>
          <a:stretch>
            <a:fillRect/>
          </a:stretch>
        </p:blipFill>
        <p:spPr>
          <a:xfrm>
            <a:off x="9738360" y="3314700"/>
            <a:ext cx="411480" cy="411480"/>
          </a:xfrm>
          <a:prstGeom prst="rect">
            <a:avLst/>
          </a:prstGeom>
        </p:spPr>
      </p:pic>
      <p:sp>
        <p:nvSpPr>
          <p:cNvPr id="18" name="Text 13"/>
          <p:cNvSpPr txBox="1"/>
          <p:nvPr/>
        </p:nvSpPr>
        <p:spPr>
          <a:xfrm>
            <a:off x="8366760" y="4160520"/>
            <a:ext cx="3154680" cy="365760"/>
          </a:xfrm>
          <a:prstGeom prst="rect">
            <a:avLst/>
          </a:prstGeom>
          <a:noFill/>
          <a:ln/>
        </p:spPr>
        <p:txBody>
          <a:bodyPr wrap="square" lIns="0" tIns="0" rIns="0" bIns="0" rtlCol="0" anchor="ctr"/>
          <a:lstStyle/>
          <a:p>
            <a:pPr algn="ctr" indent="0" marL="0">
              <a:buNone/>
            </a:pPr>
            <a:r>
              <a:rPr lang="en-US" sz="1600" b="1" dirty="0">
                <a:solidFill>
                  <a:srgbClr val="1C2B39"/>
                </a:solidFill>
                <a:latin typeface="Calibri" pitchFamily="34" charset="0"/>
                <a:ea typeface="Calibri" pitchFamily="34" charset="-122"/>
                <a:cs typeface="Calibri" pitchFamily="34" charset="-120"/>
              </a:rPr>
              <a:t>NetAcad Platform</a:t>
            </a:r>
            <a:endParaRPr lang="en-US" sz="1600" dirty="0"/>
          </a:p>
        </p:txBody>
      </p:sp>
      <p:sp>
        <p:nvSpPr>
          <p:cNvPr id="19" name="Text 14"/>
          <p:cNvSpPr txBox="1"/>
          <p:nvPr/>
        </p:nvSpPr>
        <p:spPr>
          <a:xfrm>
            <a:off x="8458200" y="4572000"/>
            <a:ext cx="2971800" cy="822960"/>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Structured video lectures and interactive exercises, no coding required.</a:t>
            </a:r>
            <a:endParaRPr lang="en-US" sz="1200" dirty="0"/>
          </a:p>
        </p:txBody>
      </p:sp>
      <p:sp>
        <p:nvSpPr>
          <p:cNvPr id="20" name="Text 15"/>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Introduction to Modern AI • Pushpendra Singh</a:t>
            </a:r>
            <a:endParaRPr lang="en-US" sz="1000" dirty="0"/>
          </a:p>
        </p:txBody>
      </p:sp>
      <p:sp>
        <p:nvSpPr>
          <p:cNvPr id="21" name="Text 16"/>
          <p:cNvSpPr txBox="1"/>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3F4"/>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E8890C"/>
                </a:solidFill>
                <a:latin typeface="Calibri" pitchFamily="34" charset="0"/>
                <a:ea typeface="Calibri" pitchFamily="34" charset="-122"/>
                <a:cs typeface="Calibri" pitchFamily="34" charset="-120"/>
              </a:rPr>
              <a:t>PROBLEM STATEMENT</a:t>
            </a:r>
            <a:endParaRPr lang="en-US" sz="1200" dirty="0"/>
          </a:p>
        </p:txBody>
      </p:sp>
      <p:sp>
        <p:nvSpPr>
          <p:cNvPr id="3" name="Text 1"/>
          <p:cNvSpPr txBox="1"/>
          <p:nvPr/>
        </p:nvSpPr>
        <p:spPr>
          <a:xfrm>
            <a:off x="502920" y="777240"/>
            <a:ext cx="10972800" cy="548640"/>
          </a:xfrm>
          <a:prstGeom prst="rect">
            <a:avLst/>
          </a:prstGeom>
          <a:noFill/>
          <a:ln/>
        </p:spPr>
        <p:txBody>
          <a:bodyPr wrap="square" lIns="0" tIns="0" rIns="0" bIns="0" rtlCol="0" anchor="ctr"/>
          <a:lstStyle/>
          <a:p>
            <a:pPr indent="0" marL="0">
              <a:buNone/>
            </a:pPr>
            <a:r>
              <a:rPr lang="en-US" sz="2800" b="1" dirty="0">
                <a:solidFill>
                  <a:srgbClr val="1C2B39"/>
                </a:solidFill>
                <a:latin typeface="Cambria" pitchFamily="34" charset="0"/>
                <a:ea typeface="Cambria" pitchFamily="34" charset="-122"/>
                <a:cs typeface="Cambria" pitchFamily="34" charset="-120"/>
              </a:rPr>
              <a:t>Turning AI Awareness Into Practical Skill</a:t>
            </a:r>
            <a:endParaRPr lang="en-US" sz="2800" dirty="0"/>
          </a:p>
        </p:txBody>
      </p:sp>
      <p:sp>
        <p:nvSpPr>
          <p:cNvPr id="4" name="Shape 2"/>
          <p:cNvSpPr/>
          <p:nvPr/>
        </p:nvSpPr>
        <p:spPr>
          <a:xfrm>
            <a:off x="502920" y="1508760"/>
            <a:ext cx="11155680" cy="1371600"/>
          </a:xfrm>
          <a:prstGeom prst="roundRect">
            <a:avLst>
              <a:gd name="adj" fmla="val 4000"/>
            </a:avLst>
          </a:prstGeom>
          <a:solidFill>
            <a:srgbClr val="FFFFFF"/>
          </a:solidFill>
          <a:ln/>
        </p:spPr>
      </p:sp>
      <p:sp>
        <p:nvSpPr>
          <p:cNvPr id="5" name="Text 3"/>
          <p:cNvSpPr txBox="1"/>
          <p:nvPr/>
        </p:nvSpPr>
        <p:spPr>
          <a:xfrm>
            <a:off x="822960" y="1645920"/>
            <a:ext cx="10515600" cy="1097280"/>
          </a:xfrm>
          <a:prstGeom prst="rect">
            <a:avLst/>
          </a:prstGeom>
          <a:noFill/>
          <a:ln/>
        </p:spPr>
        <p:txBody>
          <a:bodyPr wrap="square" lIns="0" tIns="0" rIns="0" bIns="0" rtlCol="0" anchor="ctr"/>
          <a:lstStyle/>
          <a:p>
            <a:pPr indent="0" marL="0">
              <a:buNone/>
            </a:pPr>
            <a:r>
              <a:rPr lang="en-US" sz="1400" dirty="0">
                <a:solidFill>
                  <a:srgbClr val="3A4653"/>
                </a:solidFill>
                <a:latin typeface="Calibri" pitchFamily="34" charset="0"/>
                <a:ea typeface="Calibri" pitchFamily="34" charset="-122"/>
                <a:cs typeface="Calibri" pitchFamily="34" charset="-120"/>
              </a:rPr>
              <a:t>AI tools have become widely available, but many learners understand AI only at a surface level and lack structured, hands-on practice – particularly in areas such as computer vision, machine translation, and writing effective chatbot prompts.</a:t>
            </a:r>
            <a:endParaRPr lang="en-US" sz="1400" dirty="0"/>
          </a:p>
        </p:txBody>
      </p:sp>
      <p:sp>
        <p:nvSpPr>
          <p:cNvPr id="6" name="Text 4"/>
          <p:cNvSpPr txBox="1"/>
          <p:nvPr/>
        </p:nvSpPr>
        <p:spPr>
          <a:xfrm>
            <a:off x="502920" y="3108960"/>
            <a:ext cx="10058400" cy="365760"/>
          </a:xfrm>
          <a:prstGeom prst="rect">
            <a:avLst/>
          </a:prstGeom>
          <a:noFill/>
          <a:ln/>
        </p:spPr>
        <p:txBody>
          <a:bodyPr wrap="square" lIns="0" tIns="0" rIns="0" bIns="0" rtlCol="0" anchor="ctr"/>
          <a:lstStyle/>
          <a:p>
            <a:pPr indent="0" marL="0">
              <a:buNone/>
            </a:pPr>
            <a:r>
              <a:rPr lang="en-US" sz="1400" b="1" dirty="0">
                <a:solidFill>
                  <a:srgbClr val="1C2B39"/>
                </a:solidFill>
                <a:latin typeface="Calibri" pitchFamily="34" charset="0"/>
                <a:ea typeface="Calibri" pitchFamily="34" charset="-122"/>
                <a:cs typeface="Calibri" pitchFamily="34" charset="-120"/>
              </a:rPr>
              <a:t>This course addressed that gap — a practical, hands-on path through modern AI:</a:t>
            </a:r>
            <a:endParaRPr lang="en-US" sz="1400" dirty="0"/>
          </a:p>
        </p:txBody>
      </p:sp>
      <p:sp>
        <p:nvSpPr>
          <p:cNvPr id="7" name="Shape 5"/>
          <p:cNvSpPr/>
          <p:nvPr/>
        </p:nvSpPr>
        <p:spPr>
          <a:xfrm>
            <a:off x="502920" y="3749040"/>
            <a:ext cx="2331720" cy="1371600"/>
          </a:xfrm>
          <a:prstGeom prst="roundRect">
            <a:avLst>
              <a:gd name="adj" fmla="val 5333"/>
            </a:avLst>
          </a:prstGeom>
          <a:solidFill>
            <a:srgbClr val="1C2B39"/>
          </a:solidFill>
          <a:ln/>
        </p:spPr>
      </p:sp>
      <p:sp>
        <p:nvSpPr>
          <p:cNvPr id="8" name="Shape 6"/>
          <p:cNvSpPr/>
          <p:nvPr/>
        </p:nvSpPr>
        <p:spPr>
          <a:xfrm>
            <a:off x="1348740" y="4005072"/>
            <a:ext cx="640080" cy="640080"/>
          </a:xfrm>
          <a:prstGeom prst="ellipse">
            <a:avLst/>
          </a:prstGeom>
          <a:solidFill>
            <a:srgbClr val="E8890C"/>
          </a:solidFill>
          <a:ln/>
        </p:spPr>
      </p:sp>
      <p:pic>
        <p:nvPicPr>
          <p:cNvPr id="9" name="Image 0" descr="/home/claude/ppt/icons/brain.png">    </p:cNvPr>
          <p:cNvPicPr>
            <a:picLocks noChangeAspect="1"/>
          </p:cNvPicPr>
          <p:nvPr/>
        </p:nvPicPr>
        <p:blipFill>
          <a:blip r:embed="rId1"/>
          <a:stretch>
            <a:fillRect/>
          </a:stretch>
        </p:blipFill>
        <p:spPr>
          <a:xfrm>
            <a:off x="1492758" y="4149090"/>
            <a:ext cx="352044" cy="352044"/>
          </a:xfrm>
          <a:prstGeom prst="rect">
            <a:avLst/>
          </a:prstGeom>
        </p:spPr>
      </p:pic>
      <p:sp>
        <p:nvSpPr>
          <p:cNvPr id="10" name="Text 7"/>
          <p:cNvSpPr txBox="1"/>
          <p:nvPr/>
        </p:nvSpPr>
        <p:spPr>
          <a:xfrm>
            <a:off x="594360" y="4709160"/>
            <a:ext cx="214884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Learn Concepts</a:t>
            </a:r>
            <a:endParaRPr lang="en-US" sz="1250" dirty="0"/>
          </a:p>
        </p:txBody>
      </p:sp>
      <p:sp>
        <p:nvSpPr>
          <p:cNvPr id="11" name="Text 8"/>
          <p:cNvSpPr txBox="1"/>
          <p:nvPr/>
        </p:nvSpPr>
        <p:spPr>
          <a:xfrm>
            <a:off x="2880360" y="4160520"/>
            <a:ext cx="411480" cy="548640"/>
          </a:xfrm>
          <a:prstGeom prst="rect">
            <a:avLst/>
          </a:prstGeom>
          <a:noFill/>
          <a:ln/>
        </p:spPr>
        <p:txBody>
          <a:bodyPr wrap="square" lIns="0" tIns="0" rIns="0" bIns="0" rtlCol="0" anchor="ctr"/>
          <a:lstStyle/>
          <a:p>
            <a:pPr algn="ctr" indent="0" marL="0">
              <a:buNone/>
            </a:pPr>
            <a:r>
              <a:rPr lang="en-US" sz="2200" b="1" dirty="0">
                <a:solidFill>
                  <a:srgbClr val="E8890C"/>
                </a:solidFill>
                <a:latin typeface="Arial" pitchFamily="34" charset="0"/>
                <a:ea typeface="Arial" pitchFamily="34" charset="-122"/>
                <a:cs typeface="Arial" pitchFamily="34" charset="-120"/>
              </a:rPr>
              <a:t>→</a:t>
            </a:r>
            <a:endParaRPr lang="en-US" sz="2200" dirty="0"/>
          </a:p>
        </p:txBody>
      </p:sp>
      <p:sp>
        <p:nvSpPr>
          <p:cNvPr id="12" name="Shape 9"/>
          <p:cNvSpPr/>
          <p:nvPr/>
        </p:nvSpPr>
        <p:spPr>
          <a:xfrm>
            <a:off x="3337560" y="3749040"/>
            <a:ext cx="2331720" cy="1371600"/>
          </a:xfrm>
          <a:prstGeom prst="roundRect">
            <a:avLst>
              <a:gd name="adj" fmla="val 5333"/>
            </a:avLst>
          </a:prstGeom>
          <a:solidFill>
            <a:srgbClr val="1C2B39"/>
          </a:solidFill>
          <a:ln/>
        </p:spPr>
      </p:sp>
      <p:sp>
        <p:nvSpPr>
          <p:cNvPr id="13" name="Shape 10"/>
          <p:cNvSpPr/>
          <p:nvPr/>
        </p:nvSpPr>
        <p:spPr>
          <a:xfrm>
            <a:off x="4183380" y="4005072"/>
            <a:ext cx="640080" cy="640080"/>
          </a:xfrm>
          <a:prstGeom prst="ellipse">
            <a:avLst/>
          </a:prstGeom>
          <a:solidFill>
            <a:srgbClr val="E8890C"/>
          </a:solidFill>
          <a:ln/>
        </p:spPr>
      </p:sp>
      <p:pic>
        <p:nvPicPr>
          <p:cNvPr id="14" name="Image 1" descr="/home/claude/ppt/icons/eye.png">    </p:cNvPr>
          <p:cNvPicPr>
            <a:picLocks noChangeAspect="1"/>
          </p:cNvPicPr>
          <p:nvPr/>
        </p:nvPicPr>
        <p:blipFill>
          <a:blip r:embed="rId2"/>
          <a:stretch>
            <a:fillRect/>
          </a:stretch>
        </p:blipFill>
        <p:spPr>
          <a:xfrm>
            <a:off x="4327398" y="4149090"/>
            <a:ext cx="352044" cy="352044"/>
          </a:xfrm>
          <a:prstGeom prst="rect">
            <a:avLst/>
          </a:prstGeom>
        </p:spPr>
      </p:pic>
      <p:sp>
        <p:nvSpPr>
          <p:cNvPr id="15" name="Text 11"/>
          <p:cNvSpPr txBox="1"/>
          <p:nvPr/>
        </p:nvSpPr>
        <p:spPr>
          <a:xfrm>
            <a:off x="3429000" y="4709160"/>
            <a:ext cx="214884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Explore Vision &amp; Translation</a:t>
            </a:r>
            <a:endParaRPr lang="en-US" sz="1250" dirty="0"/>
          </a:p>
        </p:txBody>
      </p:sp>
      <p:sp>
        <p:nvSpPr>
          <p:cNvPr id="16" name="Text 12"/>
          <p:cNvSpPr txBox="1"/>
          <p:nvPr/>
        </p:nvSpPr>
        <p:spPr>
          <a:xfrm>
            <a:off x="5715000" y="4160520"/>
            <a:ext cx="411480" cy="548640"/>
          </a:xfrm>
          <a:prstGeom prst="rect">
            <a:avLst/>
          </a:prstGeom>
          <a:noFill/>
          <a:ln/>
        </p:spPr>
        <p:txBody>
          <a:bodyPr wrap="square" lIns="0" tIns="0" rIns="0" bIns="0" rtlCol="0" anchor="ctr"/>
          <a:lstStyle/>
          <a:p>
            <a:pPr algn="ctr" indent="0" marL="0">
              <a:buNone/>
            </a:pPr>
            <a:r>
              <a:rPr lang="en-US" sz="2200" b="1" dirty="0">
                <a:solidFill>
                  <a:srgbClr val="E8890C"/>
                </a:solidFill>
                <a:latin typeface="Arial" pitchFamily="34" charset="0"/>
                <a:ea typeface="Arial" pitchFamily="34" charset="-122"/>
                <a:cs typeface="Arial" pitchFamily="34" charset="-120"/>
              </a:rPr>
              <a:t>→</a:t>
            </a:r>
            <a:endParaRPr lang="en-US" sz="2200" dirty="0"/>
          </a:p>
        </p:txBody>
      </p:sp>
      <p:sp>
        <p:nvSpPr>
          <p:cNvPr id="17" name="Shape 13"/>
          <p:cNvSpPr/>
          <p:nvPr/>
        </p:nvSpPr>
        <p:spPr>
          <a:xfrm>
            <a:off x="6172200" y="3749040"/>
            <a:ext cx="2331720" cy="1371600"/>
          </a:xfrm>
          <a:prstGeom prst="roundRect">
            <a:avLst>
              <a:gd name="adj" fmla="val 5333"/>
            </a:avLst>
          </a:prstGeom>
          <a:solidFill>
            <a:srgbClr val="1C2B39"/>
          </a:solidFill>
          <a:ln/>
        </p:spPr>
      </p:sp>
      <p:sp>
        <p:nvSpPr>
          <p:cNvPr id="18" name="Shape 14"/>
          <p:cNvSpPr/>
          <p:nvPr/>
        </p:nvSpPr>
        <p:spPr>
          <a:xfrm>
            <a:off x="7018020" y="4005072"/>
            <a:ext cx="640080" cy="640080"/>
          </a:xfrm>
          <a:prstGeom prst="ellipse">
            <a:avLst/>
          </a:prstGeom>
          <a:solidFill>
            <a:srgbClr val="E8890C"/>
          </a:solidFill>
          <a:ln/>
        </p:spPr>
      </p:sp>
      <p:pic>
        <p:nvPicPr>
          <p:cNvPr id="19" name="Image 2" descr="/home/claude/ppt/icons/comments.png">    </p:cNvPr>
          <p:cNvPicPr>
            <a:picLocks noChangeAspect="1"/>
          </p:cNvPicPr>
          <p:nvPr/>
        </p:nvPicPr>
        <p:blipFill>
          <a:blip r:embed="rId3"/>
          <a:stretch>
            <a:fillRect/>
          </a:stretch>
        </p:blipFill>
        <p:spPr>
          <a:xfrm>
            <a:off x="7162038" y="4149090"/>
            <a:ext cx="352044" cy="352044"/>
          </a:xfrm>
          <a:prstGeom prst="rect">
            <a:avLst/>
          </a:prstGeom>
        </p:spPr>
      </p:pic>
      <p:sp>
        <p:nvSpPr>
          <p:cNvPr id="20" name="Text 15"/>
          <p:cNvSpPr txBox="1"/>
          <p:nvPr/>
        </p:nvSpPr>
        <p:spPr>
          <a:xfrm>
            <a:off x="6263640" y="4709160"/>
            <a:ext cx="214884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Master Prompting</a:t>
            </a:r>
            <a:endParaRPr lang="en-US" sz="1250" dirty="0"/>
          </a:p>
        </p:txBody>
      </p:sp>
      <p:sp>
        <p:nvSpPr>
          <p:cNvPr id="21" name="Text 16"/>
          <p:cNvSpPr txBox="1"/>
          <p:nvPr/>
        </p:nvSpPr>
        <p:spPr>
          <a:xfrm>
            <a:off x="8549640" y="4160520"/>
            <a:ext cx="411480" cy="548640"/>
          </a:xfrm>
          <a:prstGeom prst="rect">
            <a:avLst/>
          </a:prstGeom>
          <a:noFill/>
          <a:ln/>
        </p:spPr>
        <p:txBody>
          <a:bodyPr wrap="square" lIns="0" tIns="0" rIns="0" bIns="0" rtlCol="0" anchor="ctr"/>
          <a:lstStyle/>
          <a:p>
            <a:pPr algn="ctr" indent="0" marL="0">
              <a:buNone/>
            </a:pPr>
            <a:r>
              <a:rPr lang="en-US" sz="2200" b="1" dirty="0">
                <a:solidFill>
                  <a:srgbClr val="E8890C"/>
                </a:solidFill>
                <a:latin typeface="Arial" pitchFamily="34" charset="0"/>
                <a:ea typeface="Arial" pitchFamily="34" charset="-122"/>
                <a:cs typeface="Arial" pitchFamily="34" charset="-120"/>
              </a:rPr>
              <a:t>→</a:t>
            </a:r>
            <a:endParaRPr lang="en-US" sz="2200" dirty="0"/>
          </a:p>
        </p:txBody>
      </p:sp>
      <p:sp>
        <p:nvSpPr>
          <p:cNvPr id="22" name="Shape 17"/>
          <p:cNvSpPr/>
          <p:nvPr/>
        </p:nvSpPr>
        <p:spPr>
          <a:xfrm>
            <a:off x="9006840" y="3749040"/>
            <a:ext cx="2331720" cy="1371600"/>
          </a:xfrm>
          <a:prstGeom prst="roundRect">
            <a:avLst>
              <a:gd name="adj" fmla="val 5333"/>
            </a:avLst>
          </a:prstGeom>
          <a:solidFill>
            <a:srgbClr val="1C2B39"/>
          </a:solidFill>
          <a:ln/>
        </p:spPr>
      </p:sp>
      <p:sp>
        <p:nvSpPr>
          <p:cNvPr id="23" name="Shape 18"/>
          <p:cNvSpPr/>
          <p:nvPr/>
        </p:nvSpPr>
        <p:spPr>
          <a:xfrm>
            <a:off x="9852660" y="4005072"/>
            <a:ext cx="640080" cy="640080"/>
          </a:xfrm>
          <a:prstGeom prst="ellipse">
            <a:avLst/>
          </a:prstGeom>
          <a:solidFill>
            <a:srgbClr val="E8890C"/>
          </a:solidFill>
          <a:ln/>
        </p:spPr>
      </p:sp>
      <p:pic>
        <p:nvPicPr>
          <p:cNvPr id="24" name="Image 3" descr="/home/claude/ppt/icons/badge.png">    </p:cNvPr>
          <p:cNvPicPr>
            <a:picLocks noChangeAspect="1"/>
          </p:cNvPicPr>
          <p:nvPr/>
        </p:nvPicPr>
        <p:blipFill>
          <a:blip r:embed="rId4"/>
          <a:stretch>
            <a:fillRect/>
          </a:stretch>
        </p:blipFill>
        <p:spPr>
          <a:xfrm>
            <a:off x="9996678" y="4149090"/>
            <a:ext cx="352044" cy="352044"/>
          </a:xfrm>
          <a:prstGeom prst="rect">
            <a:avLst/>
          </a:prstGeom>
        </p:spPr>
      </p:pic>
      <p:sp>
        <p:nvSpPr>
          <p:cNvPr id="25" name="Text 19"/>
          <p:cNvSpPr txBox="1"/>
          <p:nvPr/>
        </p:nvSpPr>
        <p:spPr>
          <a:xfrm>
            <a:off x="9098280" y="4709160"/>
            <a:ext cx="214884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Apply &amp; Assess</a:t>
            </a:r>
            <a:endParaRPr lang="en-US" sz="1250" dirty="0"/>
          </a:p>
        </p:txBody>
      </p:sp>
      <p:sp>
        <p:nvSpPr>
          <p:cNvPr id="26" name="Text 20"/>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Introduction to Modern AI • Pushpendra Singh</a:t>
            </a:r>
            <a:endParaRPr lang="en-US" sz="1000" dirty="0"/>
          </a:p>
        </p:txBody>
      </p:sp>
      <p:sp>
        <p:nvSpPr>
          <p:cNvPr id="27" name="Text 21"/>
          <p:cNvSpPr txBox="1"/>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3F4"/>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E8890C"/>
                </a:solidFill>
                <a:latin typeface="Calibri" pitchFamily="34" charset="0"/>
                <a:ea typeface="Calibri" pitchFamily="34" charset="-122"/>
                <a:cs typeface="Calibri" pitchFamily="34" charset="-120"/>
              </a:rPr>
              <a:t>COURSE OBJECTIVES</a:t>
            </a:r>
            <a:endParaRPr lang="en-US" sz="1200" dirty="0"/>
          </a:p>
        </p:txBody>
      </p:sp>
      <p:sp>
        <p:nvSpPr>
          <p:cNvPr id="3" name="Text 1"/>
          <p:cNvSpPr txBox="1"/>
          <p:nvPr/>
        </p:nvSpPr>
        <p:spPr>
          <a:xfrm>
            <a:off x="502920" y="777240"/>
            <a:ext cx="10972800" cy="548640"/>
          </a:xfrm>
          <a:prstGeom prst="rect">
            <a:avLst/>
          </a:prstGeom>
          <a:noFill/>
          <a:ln/>
        </p:spPr>
        <p:txBody>
          <a:bodyPr wrap="square" lIns="0" tIns="0" rIns="0" bIns="0" rtlCol="0" anchor="ctr"/>
          <a:lstStyle/>
          <a:p>
            <a:pPr indent="0" marL="0">
              <a:buNone/>
            </a:pPr>
            <a:r>
              <a:rPr lang="en-US" sz="2800" b="1" dirty="0">
                <a:solidFill>
                  <a:srgbClr val="1C2B39"/>
                </a:solidFill>
                <a:latin typeface="Cambria" pitchFamily="34" charset="0"/>
                <a:ea typeface="Cambria" pitchFamily="34" charset="-122"/>
                <a:cs typeface="Cambria" pitchFamily="34" charset="-120"/>
              </a:rPr>
              <a:t>What the Course Set Out to Achieve</a:t>
            </a:r>
            <a:endParaRPr lang="en-US" sz="2800" dirty="0"/>
          </a:p>
        </p:txBody>
      </p:sp>
      <p:sp>
        <p:nvSpPr>
          <p:cNvPr id="4" name="Shape 2"/>
          <p:cNvSpPr/>
          <p:nvPr/>
        </p:nvSpPr>
        <p:spPr>
          <a:xfrm>
            <a:off x="502920" y="1508760"/>
            <a:ext cx="3520440" cy="1691640"/>
          </a:xfrm>
          <a:prstGeom prst="roundRect">
            <a:avLst>
              <a:gd name="adj" fmla="val 4324"/>
            </a:avLst>
          </a:prstGeom>
          <a:solidFill>
            <a:srgbClr val="FFFFFF"/>
          </a:solidFill>
          <a:ln/>
          <a:effectLst>
            <a:outerShdw sx="100000" sy="100000" kx="0" ky="0" algn="bl" rotWithShape="0" blurRad="76200" dist="25400" dir="5400000">
              <a:srgbClr val="000000">
                <a:alpha val="10000"/>
              </a:srgbClr>
            </a:outerShdw>
          </a:effectLst>
        </p:spPr>
      </p:sp>
      <p:sp>
        <p:nvSpPr>
          <p:cNvPr id="5" name="Shape 3"/>
          <p:cNvSpPr/>
          <p:nvPr/>
        </p:nvSpPr>
        <p:spPr>
          <a:xfrm>
            <a:off x="731520" y="1737360"/>
            <a:ext cx="502920" cy="502920"/>
          </a:xfrm>
          <a:prstGeom prst="ellipse">
            <a:avLst/>
          </a:prstGeom>
          <a:solidFill>
            <a:srgbClr val="E7E9EB"/>
          </a:solidFill>
          <a:ln/>
        </p:spPr>
      </p:sp>
      <p:pic>
        <p:nvPicPr>
          <p:cNvPr id="6" name="Image 0" descr="/home/claude/ppt/icons/brain_navy.png">    </p:cNvPr>
          <p:cNvPicPr>
            <a:picLocks noChangeAspect="1"/>
          </p:cNvPicPr>
          <p:nvPr/>
        </p:nvPicPr>
        <p:blipFill>
          <a:blip r:embed="rId1"/>
          <a:stretch>
            <a:fillRect/>
          </a:stretch>
        </p:blipFill>
        <p:spPr>
          <a:xfrm>
            <a:off x="844677" y="1850517"/>
            <a:ext cx="276606" cy="276606"/>
          </a:xfrm>
          <a:prstGeom prst="rect">
            <a:avLst/>
          </a:prstGeom>
        </p:spPr>
      </p:pic>
      <p:sp>
        <p:nvSpPr>
          <p:cNvPr id="7" name="Text 4"/>
          <p:cNvSpPr txBox="1"/>
          <p:nvPr/>
        </p:nvSpPr>
        <p:spPr>
          <a:xfrm>
            <a:off x="731520" y="2377440"/>
            <a:ext cx="3063240" cy="320040"/>
          </a:xfrm>
          <a:prstGeom prst="rect">
            <a:avLst/>
          </a:prstGeom>
          <a:noFill/>
          <a:ln/>
        </p:spPr>
        <p:txBody>
          <a:bodyPr wrap="square" lIns="0" tIns="0" rIns="0" bIns="0" rtlCol="0" anchor="ctr"/>
          <a:lstStyle/>
          <a:p>
            <a:pPr indent="0" marL="0">
              <a:buNone/>
            </a:pPr>
            <a:r>
              <a:rPr lang="en-US" sz="1400" b="1" dirty="0">
                <a:solidFill>
                  <a:srgbClr val="1C2B39"/>
                </a:solidFill>
                <a:latin typeface="Calibri" pitchFamily="34" charset="0"/>
                <a:ea typeface="Calibri" pitchFamily="34" charset="-122"/>
                <a:cs typeface="Calibri" pitchFamily="34" charset="-120"/>
              </a:rPr>
              <a:t>AI Fundamentals</a:t>
            </a:r>
            <a:endParaRPr lang="en-US" sz="1400" dirty="0"/>
          </a:p>
        </p:txBody>
      </p:sp>
      <p:sp>
        <p:nvSpPr>
          <p:cNvPr id="8" name="Text 5"/>
          <p:cNvSpPr txBox="1"/>
          <p:nvPr/>
        </p:nvSpPr>
        <p:spPr>
          <a:xfrm>
            <a:off x="731520" y="2679192"/>
            <a:ext cx="3063240" cy="45720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Understand how modern AI works and where it is useful.</a:t>
            </a:r>
            <a:endParaRPr lang="en-US" sz="1050" dirty="0"/>
          </a:p>
        </p:txBody>
      </p:sp>
      <p:sp>
        <p:nvSpPr>
          <p:cNvPr id="9" name="Shape 6"/>
          <p:cNvSpPr/>
          <p:nvPr/>
        </p:nvSpPr>
        <p:spPr>
          <a:xfrm>
            <a:off x="4343400" y="1508760"/>
            <a:ext cx="3520440" cy="1691640"/>
          </a:xfrm>
          <a:prstGeom prst="roundRect">
            <a:avLst>
              <a:gd name="adj" fmla="val 4324"/>
            </a:avLst>
          </a:prstGeom>
          <a:solidFill>
            <a:srgbClr val="FFFFFF"/>
          </a:solidFill>
          <a:ln/>
          <a:effectLst>
            <a:outerShdw sx="100000" sy="100000" kx="0" ky="0" algn="bl" rotWithShape="0" blurRad="76200" dist="25400" dir="5400000">
              <a:srgbClr val="000000">
                <a:alpha val="10000"/>
              </a:srgbClr>
            </a:outerShdw>
          </a:effectLst>
        </p:spPr>
      </p:sp>
      <p:sp>
        <p:nvSpPr>
          <p:cNvPr id="10" name="Shape 7"/>
          <p:cNvSpPr/>
          <p:nvPr/>
        </p:nvSpPr>
        <p:spPr>
          <a:xfrm>
            <a:off x="4572000" y="1737360"/>
            <a:ext cx="502920" cy="502920"/>
          </a:xfrm>
          <a:prstGeom prst="ellipse">
            <a:avLst/>
          </a:prstGeom>
          <a:solidFill>
            <a:srgbClr val="E7E9EB"/>
          </a:solidFill>
          <a:ln/>
        </p:spPr>
      </p:sp>
      <p:pic>
        <p:nvPicPr>
          <p:cNvPr id="11" name="Image 1" descr="/home/claude/ppt/icons/eye_navy.png">    </p:cNvPr>
          <p:cNvPicPr>
            <a:picLocks noChangeAspect="1"/>
          </p:cNvPicPr>
          <p:nvPr/>
        </p:nvPicPr>
        <p:blipFill>
          <a:blip r:embed="rId2"/>
          <a:stretch>
            <a:fillRect/>
          </a:stretch>
        </p:blipFill>
        <p:spPr>
          <a:xfrm>
            <a:off x="4685157" y="1850517"/>
            <a:ext cx="276606" cy="276606"/>
          </a:xfrm>
          <a:prstGeom prst="rect">
            <a:avLst/>
          </a:prstGeom>
        </p:spPr>
      </p:pic>
      <p:sp>
        <p:nvSpPr>
          <p:cNvPr id="12" name="Text 8"/>
          <p:cNvSpPr txBox="1"/>
          <p:nvPr/>
        </p:nvSpPr>
        <p:spPr>
          <a:xfrm>
            <a:off x="4572000" y="2377440"/>
            <a:ext cx="3063240" cy="320040"/>
          </a:xfrm>
          <a:prstGeom prst="rect">
            <a:avLst/>
          </a:prstGeom>
          <a:noFill/>
          <a:ln/>
        </p:spPr>
        <p:txBody>
          <a:bodyPr wrap="square" lIns="0" tIns="0" rIns="0" bIns="0" rtlCol="0" anchor="ctr"/>
          <a:lstStyle/>
          <a:p>
            <a:pPr indent="0" marL="0">
              <a:buNone/>
            </a:pPr>
            <a:r>
              <a:rPr lang="en-US" sz="1400" b="1" dirty="0">
                <a:solidFill>
                  <a:srgbClr val="1C2B39"/>
                </a:solidFill>
                <a:latin typeface="Calibri" pitchFamily="34" charset="0"/>
                <a:ea typeface="Calibri" pitchFamily="34" charset="-122"/>
                <a:cs typeface="Calibri" pitchFamily="34" charset="-120"/>
              </a:rPr>
              <a:t>Computer Vision</a:t>
            </a:r>
            <a:endParaRPr lang="en-US" sz="1400" dirty="0"/>
          </a:p>
        </p:txBody>
      </p:sp>
      <p:sp>
        <p:nvSpPr>
          <p:cNvPr id="13" name="Text 9"/>
          <p:cNvSpPr txBox="1"/>
          <p:nvPr/>
        </p:nvSpPr>
        <p:spPr>
          <a:xfrm>
            <a:off x="4572000" y="2679192"/>
            <a:ext cx="3063240" cy="45720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Explore image recognition through a hands-on photo app.</a:t>
            </a:r>
            <a:endParaRPr lang="en-US" sz="1050" dirty="0"/>
          </a:p>
        </p:txBody>
      </p:sp>
      <p:sp>
        <p:nvSpPr>
          <p:cNvPr id="14" name="Shape 10"/>
          <p:cNvSpPr/>
          <p:nvPr/>
        </p:nvSpPr>
        <p:spPr>
          <a:xfrm>
            <a:off x="8183880" y="1508760"/>
            <a:ext cx="3520440" cy="1691640"/>
          </a:xfrm>
          <a:prstGeom prst="roundRect">
            <a:avLst>
              <a:gd name="adj" fmla="val 4324"/>
            </a:avLst>
          </a:prstGeom>
          <a:solidFill>
            <a:srgbClr val="FFFFFF"/>
          </a:solidFill>
          <a:ln/>
          <a:effectLst>
            <a:outerShdw sx="100000" sy="100000" kx="0" ky="0" algn="bl" rotWithShape="0" blurRad="76200" dist="25400" dir="5400000">
              <a:srgbClr val="000000">
                <a:alpha val="10000"/>
              </a:srgbClr>
            </a:outerShdw>
          </a:effectLst>
        </p:spPr>
      </p:sp>
      <p:sp>
        <p:nvSpPr>
          <p:cNvPr id="15" name="Shape 11"/>
          <p:cNvSpPr/>
          <p:nvPr/>
        </p:nvSpPr>
        <p:spPr>
          <a:xfrm>
            <a:off x="8412480" y="1737360"/>
            <a:ext cx="502920" cy="502920"/>
          </a:xfrm>
          <a:prstGeom prst="ellipse">
            <a:avLst/>
          </a:prstGeom>
          <a:solidFill>
            <a:srgbClr val="E7E9EB"/>
          </a:solidFill>
          <a:ln/>
        </p:spPr>
      </p:sp>
      <p:pic>
        <p:nvPicPr>
          <p:cNvPr id="16" name="Image 2" descr="/home/claude/ppt/icons/language_navy.png">    </p:cNvPr>
          <p:cNvPicPr>
            <a:picLocks noChangeAspect="1"/>
          </p:cNvPicPr>
          <p:nvPr/>
        </p:nvPicPr>
        <p:blipFill>
          <a:blip r:embed="rId3"/>
          <a:stretch>
            <a:fillRect/>
          </a:stretch>
        </p:blipFill>
        <p:spPr>
          <a:xfrm>
            <a:off x="8525637" y="1850517"/>
            <a:ext cx="276606" cy="276606"/>
          </a:xfrm>
          <a:prstGeom prst="rect">
            <a:avLst/>
          </a:prstGeom>
        </p:spPr>
      </p:pic>
      <p:sp>
        <p:nvSpPr>
          <p:cNvPr id="17" name="Text 12"/>
          <p:cNvSpPr txBox="1"/>
          <p:nvPr/>
        </p:nvSpPr>
        <p:spPr>
          <a:xfrm>
            <a:off x="8412480" y="2377440"/>
            <a:ext cx="3063240" cy="320040"/>
          </a:xfrm>
          <a:prstGeom prst="rect">
            <a:avLst/>
          </a:prstGeom>
          <a:noFill/>
          <a:ln/>
        </p:spPr>
        <p:txBody>
          <a:bodyPr wrap="square" lIns="0" tIns="0" rIns="0" bIns="0" rtlCol="0" anchor="ctr"/>
          <a:lstStyle/>
          <a:p>
            <a:pPr indent="0" marL="0">
              <a:buNone/>
            </a:pPr>
            <a:r>
              <a:rPr lang="en-US" sz="1400" b="1" dirty="0">
                <a:solidFill>
                  <a:srgbClr val="1C2B39"/>
                </a:solidFill>
                <a:latin typeface="Calibri" pitchFamily="34" charset="0"/>
                <a:ea typeface="Calibri" pitchFamily="34" charset="-122"/>
                <a:cs typeface="Calibri" pitchFamily="34" charset="-120"/>
              </a:rPr>
              <a:t>Machine Translation</a:t>
            </a:r>
            <a:endParaRPr lang="en-US" sz="1400" dirty="0"/>
          </a:p>
        </p:txBody>
      </p:sp>
      <p:sp>
        <p:nvSpPr>
          <p:cNvPr id="18" name="Text 13"/>
          <p:cNvSpPr txBox="1"/>
          <p:nvPr/>
        </p:nvSpPr>
        <p:spPr>
          <a:xfrm>
            <a:off x="8412480" y="2679192"/>
            <a:ext cx="3063240" cy="45720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Use an online translator to see AI-driven translation in action.</a:t>
            </a:r>
            <a:endParaRPr lang="en-US" sz="1050" dirty="0"/>
          </a:p>
        </p:txBody>
      </p:sp>
      <p:sp>
        <p:nvSpPr>
          <p:cNvPr id="19" name="Shape 14"/>
          <p:cNvSpPr/>
          <p:nvPr/>
        </p:nvSpPr>
        <p:spPr>
          <a:xfrm>
            <a:off x="502920" y="3474720"/>
            <a:ext cx="3520440" cy="1691640"/>
          </a:xfrm>
          <a:prstGeom prst="roundRect">
            <a:avLst>
              <a:gd name="adj" fmla="val 4324"/>
            </a:avLst>
          </a:prstGeom>
          <a:solidFill>
            <a:srgbClr val="FFFFFF"/>
          </a:solidFill>
          <a:ln/>
          <a:effectLst>
            <a:outerShdw sx="100000" sy="100000" kx="0" ky="0" algn="bl" rotWithShape="0" blurRad="76200" dist="25400" dir="5400000">
              <a:srgbClr val="000000">
                <a:alpha val="10000"/>
              </a:srgbClr>
            </a:outerShdw>
          </a:effectLst>
        </p:spPr>
      </p:sp>
      <p:sp>
        <p:nvSpPr>
          <p:cNvPr id="20" name="Shape 15"/>
          <p:cNvSpPr/>
          <p:nvPr/>
        </p:nvSpPr>
        <p:spPr>
          <a:xfrm>
            <a:off x="731520" y="3703320"/>
            <a:ext cx="502920" cy="502920"/>
          </a:xfrm>
          <a:prstGeom prst="ellipse">
            <a:avLst/>
          </a:prstGeom>
          <a:solidFill>
            <a:srgbClr val="E7E9EB"/>
          </a:solidFill>
          <a:ln/>
        </p:spPr>
      </p:sp>
      <p:pic>
        <p:nvPicPr>
          <p:cNvPr id="21" name="Image 3" descr="/home/claude/ppt/icons/comments_navy.png">    </p:cNvPr>
          <p:cNvPicPr>
            <a:picLocks noChangeAspect="1"/>
          </p:cNvPicPr>
          <p:nvPr/>
        </p:nvPicPr>
        <p:blipFill>
          <a:blip r:embed="rId4"/>
          <a:stretch>
            <a:fillRect/>
          </a:stretch>
        </p:blipFill>
        <p:spPr>
          <a:xfrm>
            <a:off x="844677" y="3816477"/>
            <a:ext cx="276606" cy="276606"/>
          </a:xfrm>
          <a:prstGeom prst="rect">
            <a:avLst/>
          </a:prstGeom>
        </p:spPr>
      </p:pic>
      <p:sp>
        <p:nvSpPr>
          <p:cNvPr id="22" name="Text 16"/>
          <p:cNvSpPr txBox="1"/>
          <p:nvPr/>
        </p:nvSpPr>
        <p:spPr>
          <a:xfrm>
            <a:off x="731520" y="4343400"/>
            <a:ext cx="3063240" cy="320040"/>
          </a:xfrm>
          <a:prstGeom prst="rect">
            <a:avLst/>
          </a:prstGeom>
          <a:noFill/>
          <a:ln/>
        </p:spPr>
        <p:txBody>
          <a:bodyPr wrap="square" lIns="0" tIns="0" rIns="0" bIns="0" rtlCol="0" anchor="ctr"/>
          <a:lstStyle/>
          <a:p>
            <a:pPr indent="0" marL="0">
              <a:buNone/>
            </a:pPr>
            <a:r>
              <a:rPr lang="en-US" sz="1400" b="1" dirty="0">
                <a:solidFill>
                  <a:srgbClr val="1C2B39"/>
                </a:solidFill>
                <a:latin typeface="Calibri" pitchFamily="34" charset="0"/>
                <a:ea typeface="Calibri" pitchFamily="34" charset="-122"/>
                <a:cs typeface="Calibri" pitchFamily="34" charset="-120"/>
              </a:rPr>
              <a:t>Prompt Engineering</a:t>
            </a:r>
            <a:endParaRPr lang="en-US" sz="1400" dirty="0"/>
          </a:p>
        </p:txBody>
      </p:sp>
      <p:sp>
        <p:nvSpPr>
          <p:cNvPr id="23" name="Text 17"/>
          <p:cNvSpPr txBox="1"/>
          <p:nvPr/>
        </p:nvSpPr>
        <p:spPr>
          <a:xfrm>
            <a:off x="731520" y="4645152"/>
            <a:ext cx="3063240" cy="45720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Learn to write clear, effective prompts for AI chatbots.</a:t>
            </a:r>
            <a:endParaRPr lang="en-US" sz="1050" dirty="0"/>
          </a:p>
        </p:txBody>
      </p:sp>
      <p:sp>
        <p:nvSpPr>
          <p:cNvPr id="24" name="Shape 18"/>
          <p:cNvSpPr/>
          <p:nvPr/>
        </p:nvSpPr>
        <p:spPr>
          <a:xfrm>
            <a:off x="4343400" y="3474720"/>
            <a:ext cx="3520440" cy="1691640"/>
          </a:xfrm>
          <a:prstGeom prst="roundRect">
            <a:avLst>
              <a:gd name="adj" fmla="val 4324"/>
            </a:avLst>
          </a:prstGeom>
          <a:solidFill>
            <a:srgbClr val="FFFFFF"/>
          </a:solidFill>
          <a:ln/>
          <a:effectLst>
            <a:outerShdw sx="100000" sy="100000" kx="0" ky="0" algn="bl" rotWithShape="0" blurRad="76200" dist="25400" dir="5400000">
              <a:srgbClr val="000000">
                <a:alpha val="10000"/>
              </a:srgbClr>
            </a:outerShdw>
          </a:effectLst>
        </p:spPr>
      </p:sp>
      <p:sp>
        <p:nvSpPr>
          <p:cNvPr id="25" name="Shape 19"/>
          <p:cNvSpPr/>
          <p:nvPr/>
        </p:nvSpPr>
        <p:spPr>
          <a:xfrm>
            <a:off x="4572000" y="3703320"/>
            <a:ext cx="502920" cy="502920"/>
          </a:xfrm>
          <a:prstGeom prst="ellipse">
            <a:avLst/>
          </a:prstGeom>
          <a:solidFill>
            <a:srgbClr val="E7E9EB"/>
          </a:solidFill>
          <a:ln/>
        </p:spPr>
      </p:sp>
      <p:pic>
        <p:nvPicPr>
          <p:cNvPr id="26" name="Image 4" descr="/home/claude/ppt/icons/robot_navy.png">    </p:cNvPr>
          <p:cNvPicPr>
            <a:picLocks noChangeAspect="1"/>
          </p:cNvPicPr>
          <p:nvPr/>
        </p:nvPicPr>
        <p:blipFill>
          <a:blip r:embed="rId5"/>
          <a:stretch>
            <a:fillRect/>
          </a:stretch>
        </p:blipFill>
        <p:spPr>
          <a:xfrm>
            <a:off x="4685157" y="3816477"/>
            <a:ext cx="276606" cy="276606"/>
          </a:xfrm>
          <a:prstGeom prst="rect">
            <a:avLst/>
          </a:prstGeom>
        </p:spPr>
      </p:pic>
      <p:sp>
        <p:nvSpPr>
          <p:cNvPr id="27" name="Text 20"/>
          <p:cNvSpPr txBox="1"/>
          <p:nvPr/>
        </p:nvSpPr>
        <p:spPr>
          <a:xfrm>
            <a:off x="4572000" y="4343400"/>
            <a:ext cx="3063240" cy="320040"/>
          </a:xfrm>
          <a:prstGeom prst="rect">
            <a:avLst/>
          </a:prstGeom>
          <a:noFill/>
          <a:ln/>
        </p:spPr>
        <p:txBody>
          <a:bodyPr wrap="square" lIns="0" tIns="0" rIns="0" bIns="0" rtlCol="0" anchor="ctr"/>
          <a:lstStyle/>
          <a:p>
            <a:pPr indent="0" marL="0">
              <a:buNone/>
            </a:pPr>
            <a:r>
              <a:rPr lang="en-US" sz="1400" b="1" dirty="0">
                <a:solidFill>
                  <a:srgbClr val="1C2B39"/>
                </a:solidFill>
                <a:latin typeface="Calibri" pitchFamily="34" charset="0"/>
                <a:ea typeface="Calibri" pitchFamily="34" charset="-122"/>
                <a:cs typeface="Calibri" pitchFamily="34" charset="-120"/>
              </a:rPr>
              <a:t>Multi-Tool Practice</a:t>
            </a:r>
            <a:endParaRPr lang="en-US" sz="1400" dirty="0"/>
          </a:p>
        </p:txBody>
      </p:sp>
      <p:sp>
        <p:nvSpPr>
          <p:cNvPr id="28" name="Text 21"/>
          <p:cNvSpPr txBox="1"/>
          <p:nvPr/>
        </p:nvSpPr>
        <p:spPr>
          <a:xfrm>
            <a:off x="4572000" y="4645152"/>
            <a:ext cx="3063240" cy="45720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Hands-on use of 10+ AI tools including ChatGPT, Gemini, Claude.</a:t>
            </a:r>
            <a:endParaRPr lang="en-US" sz="1050" dirty="0"/>
          </a:p>
        </p:txBody>
      </p:sp>
      <p:sp>
        <p:nvSpPr>
          <p:cNvPr id="29" name="Shape 22"/>
          <p:cNvSpPr/>
          <p:nvPr/>
        </p:nvSpPr>
        <p:spPr>
          <a:xfrm>
            <a:off x="8183880" y="3474720"/>
            <a:ext cx="3520440" cy="1691640"/>
          </a:xfrm>
          <a:prstGeom prst="roundRect">
            <a:avLst>
              <a:gd name="adj" fmla="val 4324"/>
            </a:avLst>
          </a:prstGeom>
          <a:solidFill>
            <a:srgbClr val="FFFFFF"/>
          </a:solidFill>
          <a:ln/>
          <a:effectLst>
            <a:outerShdw sx="100000" sy="100000" kx="0" ky="0" algn="bl" rotWithShape="0" blurRad="76200" dist="25400" dir="5400000">
              <a:srgbClr val="000000">
                <a:alpha val="10000"/>
              </a:srgbClr>
            </a:outerShdw>
          </a:effectLst>
        </p:spPr>
      </p:sp>
      <p:sp>
        <p:nvSpPr>
          <p:cNvPr id="30" name="Shape 23"/>
          <p:cNvSpPr/>
          <p:nvPr/>
        </p:nvSpPr>
        <p:spPr>
          <a:xfrm>
            <a:off x="8412480" y="3703320"/>
            <a:ext cx="502920" cy="502920"/>
          </a:xfrm>
          <a:prstGeom prst="ellipse">
            <a:avLst/>
          </a:prstGeom>
          <a:solidFill>
            <a:srgbClr val="E7E9EB"/>
          </a:solidFill>
          <a:ln/>
        </p:spPr>
      </p:sp>
      <p:pic>
        <p:nvPicPr>
          <p:cNvPr id="31" name="Image 5" descr="/home/claude/ppt/icons/project_navy.png">    </p:cNvPr>
          <p:cNvPicPr>
            <a:picLocks noChangeAspect="1"/>
          </p:cNvPicPr>
          <p:nvPr/>
        </p:nvPicPr>
        <p:blipFill>
          <a:blip r:embed="rId6"/>
          <a:stretch>
            <a:fillRect/>
          </a:stretch>
        </p:blipFill>
        <p:spPr>
          <a:xfrm>
            <a:off x="8525637" y="3816477"/>
            <a:ext cx="276606" cy="276606"/>
          </a:xfrm>
          <a:prstGeom prst="rect">
            <a:avLst/>
          </a:prstGeom>
        </p:spPr>
      </p:pic>
      <p:sp>
        <p:nvSpPr>
          <p:cNvPr id="32" name="Text 24"/>
          <p:cNvSpPr txBox="1"/>
          <p:nvPr/>
        </p:nvSpPr>
        <p:spPr>
          <a:xfrm>
            <a:off x="8412480" y="4343400"/>
            <a:ext cx="3063240" cy="320040"/>
          </a:xfrm>
          <a:prstGeom prst="rect">
            <a:avLst/>
          </a:prstGeom>
          <a:noFill/>
          <a:ln/>
        </p:spPr>
        <p:txBody>
          <a:bodyPr wrap="square" lIns="0" tIns="0" rIns="0" bIns="0" rtlCol="0" anchor="ctr"/>
          <a:lstStyle/>
          <a:p>
            <a:pPr indent="0" marL="0">
              <a:buNone/>
            </a:pPr>
            <a:r>
              <a:rPr lang="en-US" sz="1400" b="1" dirty="0">
                <a:solidFill>
                  <a:srgbClr val="1C2B39"/>
                </a:solidFill>
                <a:latin typeface="Calibri" pitchFamily="34" charset="0"/>
                <a:ea typeface="Calibri" pitchFamily="34" charset="-122"/>
                <a:cs typeface="Calibri" pitchFamily="34" charset="-120"/>
              </a:rPr>
              <a:t>Open-Ended Project</a:t>
            </a:r>
            <a:endParaRPr lang="en-US" sz="1400" dirty="0"/>
          </a:p>
        </p:txBody>
      </p:sp>
      <p:sp>
        <p:nvSpPr>
          <p:cNvPr id="33" name="Text 25"/>
          <p:cNvSpPr txBox="1"/>
          <p:nvPr/>
        </p:nvSpPr>
        <p:spPr>
          <a:xfrm>
            <a:off x="8412480" y="4645152"/>
            <a:ext cx="3063240" cy="45720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Apply prompt-engineering skills in a self-directed project.</a:t>
            </a:r>
            <a:endParaRPr lang="en-US" sz="1050" dirty="0"/>
          </a:p>
        </p:txBody>
      </p:sp>
      <p:sp>
        <p:nvSpPr>
          <p:cNvPr id="34" name="Text 26"/>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Introduction to Modern AI • Pushpendra Singh</a:t>
            </a:r>
            <a:endParaRPr lang="en-US" sz="1000" dirty="0"/>
          </a:p>
        </p:txBody>
      </p:sp>
      <p:sp>
        <p:nvSpPr>
          <p:cNvPr id="35" name="Text 27"/>
          <p:cNvSpPr txBox="1"/>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3F4"/>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E8890C"/>
                </a:solidFill>
                <a:latin typeface="Calibri" pitchFamily="34" charset="0"/>
                <a:ea typeface="Calibri" pitchFamily="34" charset="-122"/>
                <a:cs typeface="Calibri" pitchFamily="34" charset="-120"/>
              </a:rPr>
              <a:t>TECHNOLOGIES &amp; TOOLS</a:t>
            </a:r>
            <a:endParaRPr lang="en-US" sz="1200" dirty="0"/>
          </a:p>
        </p:txBody>
      </p:sp>
      <p:sp>
        <p:nvSpPr>
          <p:cNvPr id="3" name="Text 1"/>
          <p:cNvSpPr txBox="1"/>
          <p:nvPr/>
        </p:nvSpPr>
        <p:spPr>
          <a:xfrm>
            <a:off x="502920" y="777240"/>
            <a:ext cx="10972800" cy="548640"/>
          </a:xfrm>
          <a:prstGeom prst="rect">
            <a:avLst/>
          </a:prstGeom>
          <a:noFill/>
          <a:ln/>
        </p:spPr>
        <p:txBody>
          <a:bodyPr wrap="square" lIns="0" tIns="0" rIns="0" bIns="0" rtlCol="0" anchor="ctr"/>
          <a:lstStyle/>
          <a:p>
            <a:pPr indent="0" marL="0">
              <a:buNone/>
            </a:pPr>
            <a:r>
              <a:rPr lang="en-US" sz="2800" b="1" dirty="0">
                <a:solidFill>
                  <a:srgbClr val="1C2B39"/>
                </a:solidFill>
                <a:latin typeface="Cambria" pitchFamily="34" charset="0"/>
                <a:ea typeface="Cambria" pitchFamily="34" charset="-122"/>
                <a:cs typeface="Cambria" pitchFamily="34" charset="-120"/>
              </a:rPr>
              <a:t>The Toolkit Behind the Course</a:t>
            </a:r>
            <a:endParaRPr lang="en-US" sz="2800" dirty="0"/>
          </a:p>
        </p:txBody>
      </p:sp>
      <p:sp>
        <p:nvSpPr>
          <p:cNvPr id="4" name="Shape 2"/>
          <p:cNvSpPr/>
          <p:nvPr/>
        </p:nvSpPr>
        <p:spPr>
          <a:xfrm>
            <a:off x="502920" y="1554480"/>
            <a:ext cx="2606040" cy="1828800"/>
          </a:xfrm>
          <a:prstGeom prst="roundRect">
            <a:avLst>
              <a:gd name="adj" fmla="val 4000"/>
            </a:avLst>
          </a:prstGeom>
          <a:solidFill>
            <a:srgbClr val="FFFFFF"/>
          </a:solidFill>
          <a:ln/>
        </p:spPr>
      </p:sp>
      <p:sp>
        <p:nvSpPr>
          <p:cNvPr id="5" name="Shape 3"/>
          <p:cNvSpPr/>
          <p:nvPr/>
        </p:nvSpPr>
        <p:spPr>
          <a:xfrm>
            <a:off x="1463040" y="1828800"/>
            <a:ext cx="685800" cy="685800"/>
          </a:xfrm>
          <a:prstGeom prst="ellipse">
            <a:avLst/>
          </a:prstGeom>
          <a:solidFill>
            <a:srgbClr val="E7E9EB"/>
          </a:solidFill>
          <a:ln/>
        </p:spPr>
      </p:sp>
      <p:pic>
        <p:nvPicPr>
          <p:cNvPr id="6" name="Image 0" descr="/home/claude/ppt/icons/cloud_navy.png">    </p:cNvPr>
          <p:cNvPicPr>
            <a:picLocks noChangeAspect="1"/>
          </p:cNvPicPr>
          <p:nvPr/>
        </p:nvPicPr>
        <p:blipFill>
          <a:blip r:embed="rId1"/>
          <a:stretch>
            <a:fillRect/>
          </a:stretch>
        </p:blipFill>
        <p:spPr>
          <a:xfrm>
            <a:off x="1634490" y="2000250"/>
            <a:ext cx="342900" cy="342900"/>
          </a:xfrm>
          <a:prstGeom prst="rect">
            <a:avLst/>
          </a:prstGeom>
        </p:spPr>
      </p:pic>
      <p:sp>
        <p:nvSpPr>
          <p:cNvPr id="7" name="Text 4"/>
          <p:cNvSpPr txBox="1"/>
          <p:nvPr/>
        </p:nvSpPr>
        <p:spPr>
          <a:xfrm>
            <a:off x="594360" y="2651760"/>
            <a:ext cx="2423160" cy="320040"/>
          </a:xfrm>
          <a:prstGeom prst="rect">
            <a:avLst/>
          </a:prstGeom>
          <a:noFill/>
          <a:ln/>
        </p:spPr>
        <p:txBody>
          <a:bodyPr wrap="square" lIns="0" tIns="0" rIns="0" bIns="0" rtlCol="0" anchor="ctr"/>
          <a:lstStyle/>
          <a:p>
            <a:pPr algn="ctr" indent="0" marL="0">
              <a:buNone/>
            </a:pPr>
            <a:r>
              <a:rPr lang="en-US" sz="1300" b="1" dirty="0">
                <a:solidFill>
                  <a:srgbClr val="1C2B39"/>
                </a:solidFill>
                <a:latin typeface="Calibri" pitchFamily="34" charset="0"/>
                <a:ea typeface="Calibri" pitchFamily="34" charset="-122"/>
                <a:cs typeface="Calibri" pitchFamily="34" charset="-120"/>
              </a:rPr>
              <a:t>NetAcad</a:t>
            </a:r>
            <a:endParaRPr lang="en-US" sz="1300" dirty="0"/>
          </a:p>
        </p:txBody>
      </p:sp>
      <p:sp>
        <p:nvSpPr>
          <p:cNvPr id="8" name="Text 5"/>
          <p:cNvSpPr txBox="1"/>
          <p:nvPr/>
        </p:nvSpPr>
        <p:spPr>
          <a:xfrm>
            <a:off x="594360" y="2971800"/>
            <a:ext cx="2423160" cy="32004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Learning platform</a:t>
            </a:r>
            <a:endParaRPr lang="en-US" sz="1000" dirty="0"/>
          </a:p>
        </p:txBody>
      </p:sp>
      <p:sp>
        <p:nvSpPr>
          <p:cNvPr id="9" name="Shape 6"/>
          <p:cNvSpPr/>
          <p:nvPr/>
        </p:nvSpPr>
        <p:spPr>
          <a:xfrm>
            <a:off x="3337560" y="1554480"/>
            <a:ext cx="2606040" cy="1828800"/>
          </a:xfrm>
          <a:prstGeom prst="roundRect">
            <a:avLst>
              <a:gd name="adj" fmla="val 4000"/>
            </a:avLst>
          </a:prstGeom>
          <a:solidFill>
            <a:srgbClr val="FFFFFF"/>
          </a:solidFill>
          <a:ln/>
        </p:spPr>
      </p:sp>
      <p:sp>
        <p:nvSpPr>
          <p:cNvPr id="10" name="Shape 7"/>
          <p:cNvSpPr/>
          <p:nvPr/>
        </p:nvSpPr>
        <p:spPr>
          <a:xfrm>
            <a:off x="4297680" y="1828800"/>
            <a:ext cx="685800" cy="685800"/>
          </a:xfrm>
          <a:prstGeom prst="ellipse">
            <a:avLst/>
          </a:prstGeom>
          <a:solidFill>
            <a:srgbClr val="E7E9EB"/>
          </a:solidFill>
          <a:ln/>
        </p:spPr>
      </p:sp>
      <p:pic>
        <p:nvPicPr>
          <p:cNvPr id="11" name="Image 1" descr="/home/claude/ppt/icons/robot_navy.png">    </p:cNvPr>
          <p:cNvPicPr>
            <a:picLocks noChangeAspect="1"/>
          </p:cNvPicPr>
          <p:nvPr/>
        </p:nvPicPr>
        <p:blipFill>
          <a:blip r:embed="rId2"/>
          <a:stretch>
            <a:fillRect/>
          </a:stretch>
        </p:blipFill>
        <p:spPr>
          <a:xfrm>
            <a:off x="4469130" y="2000250"/>
            <a:ext cx="342900" cy="342900"/>
          </a:xfrm>
          <a:prstGeom prst="rect">
            <a:avLst/>
          </a:prstGeom>
        </p:spPr>
      </p:pic>
      <p:sp>
        <p:nvSpPr>
          <p:cNvPr id="12" name="Text 8"/>
          <p:cNvSpPr txBox="1"/>
          <p:nvPr/>
        </p:nvSpPr>
        <p:spPr>
          <a:xfrm>
            <a:off x="3429000" y="2651760"/>
            <a:ext cx="2423160" cy="320040"/>
          </a:xfrm>
          <a:prstGeom prst="rect">
            <a:avLst/>
          </a:prstGeom>
          <a:noFill/>
          <a:ln/>
        </p:spPr>
        <p:txBody>
          <a:bodyPr wrap="square" lIns="0" tIns="0" rIns="0" bIns="0" rtlCol="0" anchor="ctr"/>
          <a:lstStyle/>
          <a:p>
            <a:pPr algn="ctr" indent="0" marL="0">
              <a:buNone/>
            </a:pPr>
            <a:r>
              <a:rPr lang="en-US" sz="1300" b="1" dirty="0">
                <a:solidFill>
                  <a:srgbClr val="1C2B39"/>
                </a:solidFill>
                <a:latin typeface="Calibri" pitchFamily="34" charset="0"/>
                <a:ea typeface="Calibri" pitchFamily="34" charset="-122"/>
                <a:cs typeface="Calibri" pitchFamily="34" charset="-120"/>
              </a:rPr>
              <a:t>ChatGPT</a:t>
            </a:r>
            <a:endParaRPr lang="en-US" sz="1300" dirty="0"/>
          </a:p>
        </p:txBody>
      </p:sp>
      <p:sp>
        <p:nvSpPr>
          <p:cNvPr id="13" name="Text 9"/>
          <p:cNvSpPr txBox="1"/>
          <p:nvPr/>
        </p:nvSpPr>
        <p:spPr>
          <a:xfrm>
            <a:off x="3429000" y="2971800"/>
            <a:ext cx="2423160" cy="32004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Chatbot practice</a:t>
            </a:r>
            <a:endParaRPr lang="en-US" sz="1000" dirty="0"/>
          </a:p>
        </p:txBody>
      </p:sp>
      <p:sp>
        <p:nvSpPr>
          <p:cNvPr id="14" name="Shape 10"/>
          <p:cNvSpPr/>
          <p:nvPr/>
        </p:nvSpPr>
        <p:spPr>
          <a:xfrm>
            <a:off x="6172200" y="1554480"/>
            <a:ext cx="2606040" cy="1828800"/>
          </a:xfrm>
          <a:prstGeom prst="roundRect">
            <a:avLst>
              <a:gd name="adj" fmla="val 4000"/>
            </a:avLst>
          </a:prstGeom>
          <a:solidFill>
            <a:srgbClr val="FFFFFF"/>
          </a:solidFill>
          <a:ln/>
        </p:spPr>
      </p:sp>
      <p:sp>
        <p:nvSpPr>
          <p:cNvPr id="15" name="Shape 11"/>
          <p:cNvSpPr/>
          <p:nvPr/>
        </p:nvSpPr>
        <p:spPr>
          <a:xfrm>
            <a:off x="7132320" y="1828800"/>
            <a:ext cx="685800" cy="685800"/>
          </a:xfrm>
          <a:prstGeom prst="ellipse">
            <a:avLst/>
          </a:prstGeom>
          <a:solidFill>
            <a:srgbClr val="E7E9EB"/>
          </a:solidFill>
          <a:ln/>
        </p:spPr>
      </p:sp>
      <p:pic>
        <p:nvPicPr>
          <p:cNvPr id="16" name="Image 2" descr="/home/claude/ppt/icons/gem_navy.png">    </p:cNvPr>
          <p:cNvPicPr>
            <a:picLocks noChangeAspect="1"/>
          </p:cNvPicPr>
          <p:nvPr/>
        </p:nvPicPr>
        <p:blipFill>
          <a:blip r:embed="rId3"/>
          <a:stretch>
            <a:fillRect/>
          </a:stretch>
        </p:blipFill>
        <p:spPr>
          <a:xfrm>
            <a:off x="7303770" y="2000250"/>
            <a:ext cx="342900" cy="342900"/>
          </a:xfrm>
          <a:prstGeom prst="rect">
            <a:avLst/>
          </a:prstGeom>
        </p:spPr>
      </p:pic>
      <p:sp>
        <p:nvSpPr>
          <p:cNvPr id="17" name="Text 12"/>
          <p:cNvSpPr txBox="1"/>
          <p:nvPr/>
        </p:nvSpPr>
        <p:spPr>
          <a:xfrm>
            <a:off x="6263640" y="2651760"/>
            <a:ext cx="2423160" cy="320040"/>
          </a:xfrm>
          <a:prstGeom prst="rect">
            <a:avLst/>
          </a:prstGeom>
          <a:noFill/>
          <a:ln/>
        </p:spPr>
        <p:txBody>
          <a:bodyPr wrap="square" lIns="0" tIns="0" rIns="0" bIns="0" rtlCol="0" anchor="ctr"/>
          <a:lstStyle/>
          <a:p>
            <a:pPr algn="ctr" indent="0" marL="0">
              <a:buNone/>
            </a:pPr>
            <a:r>
              <a:rPr lang="en-US" sz="1300" b="1" dirty="0">
                <a:solidFill>
                  <a:srgbClr val="1C2B39"/>
                </a:solidFill>
                <a:latin typeface="Calibri" pitchFamily="34" charset="0"/>
                <a:ea typeface="Calibri" pitchFamily="34" charset="-122"/>
                <a:cs typeface="Calibri" pitchFamily="34" charset="-120"/>
              </a:rPr>
              <a:t>Gemini</a:t>
            </a:r>
            <a:endParaRPr lang="en-US" sz="1300" dirty="0"/>
          </a:p>
        </p:txBody>
      </p:sp>
      <p:sp>
        <p:nvSpPr>
          <p:cNvPr id="18" name="Text 13"/>
          <p:cNvSpPr txBox="1"/>
          <p:nvPr/>
        </p:nvSpPr>
        <p:spPr>
          <a:xfrm>
            <a:off x="6263640" y="2971800"/>
            <a:ext cx="2423160" cy="32004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Chatbot practice</a:t>
            </a:r>
            <a:endParaRPr lang="en-US" sz="1000" dirty="0"/>
          </a:p>
        </p:txBody>
      </p:sp>
      <p:sp>
        <p:nvSpPr>
          <p:cNvPr id="19" name="Shape 14"/>
          <p:cNvSpPr/>
          <p:nvPr/>
        </p:nvSpPr>
        <p:spPr>
          <a:xfrm>
            <a:off x="9006840" y="1554480"/>
            <a:ext cx="2606040" cy="1828800"/>
          </a:xfrm>
          <a:prstGeom prst="roundRect">
            <a:avLst>
              <a:gd name="adj" fmla="val 4000"/>
            </a:avLst>
          </a:prstGeom>
          <a:solidFill>
            <a:srgbClr val="FFFFFF"/>
          </a:solidFill>
          <a:ln/>
        </p:spPr>
      </p:sp>
      <p:sp>
        <p:nvSpPr>
          <p:cNvPr id="20" name="Shape 15"/>
          <p:cNvSpPr/>
          <p:nvPr/>
        </p:nvSpPr>
        <p:spPr>
          <a:xfrm>
            <a:off x="9966960" y="1828800"/>
            <a:ext cx="685800" cy="685800"/>
          </a:xfrm>
          <a:prstGeom prst="ellipse">
            <a:avLst/>
          </a:prstGeom>
          <a:solidFill>
            <a:srgbClr val="E7E9EB"/>
          </a:solidFill>
          <a:ln/>
        </p:spPr>
      </p:sp>
      <p:pic>
        <p:nvPicPr>
          <p:cNvPr id="21" name="Image 3" descr="/home/claude/ppt/icons/brain_navy.png">    </p:cNvPr>
          <p:cNvPicPr>
            <a:picLocks noChangeAspect="1"/>
          </p:cNvPicPr>
          <p:nvPr/>
        </p:nvPicPr>
        <p:blipFill>
          <a:blip r:embed="rId4"/>
          <a:stretch>
            <a:fillRect/>
          </a:stretch>
        </p:blipFill>
        <p:spPr>
          <a:xfrm>
            <a:off x="10138410" y="2000250"/>
            <a:ext cx="342900" cy="342900"/>
          </a:xfrm>
          <a:prstGeom prst="rect">
            <a:avLst/>
          </a:prstGeom>
        </p:spPr>
      </p:pic>
      <p:sp>
        <p:nvSpPr>
          <p:cNvPr id="22" name="Text 16"/>
          <p:cNvSpPr txBox="1"/>
          <p:nvPr/>
        </p:nvSpPr>
        <p:spPr>
          <a:xfrm>
            <a:off x="9098280" y="2651760"/>
            <a:ext cx="2423160" cy="320040"/>
          </a:xfrm>
          <a:prstGeom prst="rect">
            <a:avLst/>
          </a:prstGeom>
          <a:noFill/>
          <a:ln/>
        </p:spPr>
        <p:txBody>
          <a:bodyPr wrap="square" lIns="0" tIns="0" rIns="0" bIns="0" rtlCol="0" anchor="ctr"/>
          <a:lstStyle/>
          <a:p>
            <a:pPr algn="ctr" indent="0" marL="0">
              <a:buNone/>
            </a:pPr>
            <a:r>
              <a:rPr lang="en-US" sz="1300" b="1" dirty="0">
                <a:solidFill>
                  <a:srgbClr val="1C2B39"/>
                </a:solidFill>
                <a:latin typeface="Calibri" pitchFamily="34" charset="0"/>
                <a:ea typeface="Calibri" pitchFamily="34" charset="-122"/>
                <a:cs typeface="Calibri" pitchFamily="34" charset="-120"/>
              </a:rPr>
              <a:t>Claude</a:t>
            </a:r>
            <a:endParaRPr lang="en-US" sz="1300" dirty="0"/>
          </a:p>
        </p:txBody>
      </p:sp>
      <p:sp>
        <p:nvSpPr>
          <p:cNvPr id="23" name="Text 17"/>
          <p:cNvSpPr txBox="1"/>
          <p:nvPr/>
        </p:nvSpPr>
        <p:spPr>
          <a:xfrm>
            <a:off x="9098280" y="2971800"/>
            <a:ext cx="2423160" cy="32004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Chatbot practice</a:t>
            </a:r>
            <a:endParaRPr lang="en-US" sz="1000" dirty="0"/>
          </a:p>
        </p:txBody>
      </p:sp>
      <p:sp>
        <p:nvSpPr>
          <p:cNvPr id="24" name="Shape 18"/>
          <p:cNvSpPr/>
          <p:nvPr/>
        </p:nvSpPr>
        <p:spPr>
          <a:xfrm>
            <a:off x="502920" y="3657600"/>
            <a:ext cx="2606040" cy="1828800"/>
          </a:xfrm>
          <a:prstGeom prst="roundRect">
            <a:avLst>
              <a:gd name="adj" fmla="val 4000"/>
            </a:avLst>
          </a:prstGeom>
          <a:solidFill>
            <a:srgbClr val="FFFFFF"/>
          </a:solidFill>
          <a:ln/>
        </p:spPr>
      </p:sp>
      <p:sp>
        <p:nvSpPr>
          <p:cNvPr id="25" name="Shape 19"/>
          <p:cNvSpPr/>
          <p:nvPr/>
        </p:nvSpPr>
        <p:spPr>
          <a:xfrm>
            <a:off x="1463040" y="3931920"/>
            <a:ext cx="685800" cy="685800"/>
          </a:xfrm>
          <a:prstGeom prst="ellipse">
            <a:avLst/>
          </a:prstGeom>
          <a:solidFill>
            <a:srgbClr val="E7E9EB"/>
          </a:solidFill>
          <a:ln/>
        </p:spPr>
      </p:sp>
      <p:pic>
        <p:nvPicPr>
          <p:cNvPr id="26" name="Image 4" descr="/home/claude/ppt/icons/meta_navy.png">    </p:cNvPr>
          <p:cNvPicPr>
            <a:picLocks noChangeAspect="1"/>
          </p:cNvPicPr>
          <p:nvPr/>
        </p:nvPicPr>
        <p:blipFill>
          <a:blip r:embed="rId5"/>
          <a:stretch>
            <a:fillRect/>
          </a:stretch>
        </p:blipFill>
        <p:spPr>
          <a:xfrm>
            <a:off x="1634490" y="4103370"/>
            <a:ext cx="342900" cy="342900"/>
          </a:xfrm>
          <a:prstGeom prst="rect">
            <a:avLst/>
          </a:prstGeom>
        </p:spPr>
      </p:pic>
      <p:sp>
        <p:nvSpPr>
          <p:cNvPr id="27" name="Text 20"/>
          <p:cNvSpPr txBox="1"/>
          <p:nvPr/>
        </p:nvSpPr>
        <p:spPr>
          <a:xfrm>
            <a:off x="594360" y="4754880"/>
            <a:ext cx="2423160" cy="320040"/>
          </a:xfrm>
          <a:prstGeom prst="rect">
            <a:avLst/>
          </a:prstGeom>
          <a:noFill/>
          <a:ln/>
        </p:spPr>
        <p:txBody>
          <a:bodyPr wrap="square" lIns="0" tIns="0" rIns="0" bIns="0" rtlCol="0" anchor="ctr"/>
          <a:lstStyle/>
          <a:p>
            <a:pPr algn="ctr" indent="0" marL="0">
              <a:buNone/>
            </a:pPr>
            <a:r>
              <a:rPr lang="en-US" sz="1300" b="1" dirty="0">
                <a:solidFill>
                  <a:srgbClr val="1C2B39"/>
                </a:solidFill>
                <a:latin typeface="Calibri" pitchFamily="34" charset="0"/>
                <a:ea typeface="Calibri" pitchFamily="34" charset="-122"/>
                <a:cs typeface="Calibri" pitchFamily="34" charset="-120"/>
              </a:rPr>
              <a:t>Meta AI</a:t>
            </a:r>
            <a:endParaRPr lang="en-US" sz="1300" dirty="0"/>
          </a:p>
        </p:txBody>
      </p:sp>
      <p:sp>
        <p:nvSpPr>
          <p:cNvPr id="28" name="Text 21"/>
          <p:cNvSpPr txBox="1"/>
          <p:nvPr/>
        </p:nvSpPr>
        <p:spPr>
          <a:xfrm>
            <a:off x="594360" y="5074920"/>
            <a:ext cx="2423160" cy="32004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Chatbot practice</a:t>
            </a:r>
            <a:endParaRPr lang="en-US" sz="1000" dirty="0"/>
          </a:p>
        </p:txBody>
      </p:sp>
      <p:sp>
        <p:nvSpPr>
          <p:cNvPr id="29" name="Shape 22"/>
          <p:cNvSpPr/>
          <p:nvPr/>
        </p:nvSpPr>
        <p:spPr>
          <a:xfrm>
            <a:off x="3337560" y="3657600"/>
            <a:ext cx="2606040" cy="1828800"/>
          </a:xfrm>
          <a:prstGeom prst="roundRect">
            <a:avLst>
              <a:gd name="adj" fmla="val 4000"/>
            </a:avLst>
          </a:prstGeom>
          <a:solidFill>
            <a:srgbClr val="FFFFFF"/>
          </a:solidFill>
          <a:ln/>
        </p:spPr>
      </p:sp>
      <p:sp>
        <p:nvSpPr>
          <p:cNvPr id="30" name="Shape 23"/>
          <p:cNvSpPr/>
          <p:nvPr/>
        </p:nvSpPr>
        <p:spPr>
          <a:xfrm>
            <a:off x="4297680" y="3931920"/>
            <a:ext cx="685800" cy="685800"/>
          </a:xfrm>
          <a:prstGeom prst="ellipse">
            <a:avLst/>
          </a:prstGeom>
          <a:solidFill>
            <a:srgbClr val="E7E9EB"/>
          </a:solidFill>
          <a:ln/>
        </p:spPr>
      </p:sp>
      <p:pic>
        <p:nvPicPr>
          <p:cNvPr id="31" name="Image 5" descr="/home/claude/ppt/icons/translate_navy.png">    </p:cNvPr>
          <p:cNvPicPr>
            <a:picLocks noChangeAspect="1"/>
          </p:cNvPicPr>
          <p:nvPr/>
        </p:nvPicPr>
        <p:blipFill>
          <a:blip r:embed="rId6"/>
          <a:stretch>
            <a:fillRect/>
          </a:stretch>
        </p:blipFill>
        <p:spPr>
          <a:xfrm>
            <a:off x="4469130" y="4103370"/>
            <a:ext cx="342900" cy="342900"/>
          </a:xfrm>
          <a:prstGeom prst="rect">
            <a:avLst/>
          </a:prstGeom>
        </p:spPr>
      </p:pic>
      <p:sp>
        <p:nvSpPr>
          <p:cNvPr id="32" name="Text 24"/>
          <p:cNvSpPr txBox="1"/>
          <p:nvPr/>
        </p:nvSpPr>
        <p:spPr>
          <a:xfrm>
            <a:off x="3429000" y="4754880"/>
            <a:ext cx="2423160" cy="320040"/>
          </a:xfrm>
          <a:prstGeom prst="rect">
            <a:avLst/>
          </a:prstGeom>
          <a:noFill/>
          <a:ln/>
        </p:spPr>
        <p:txBody>
          <a:bodyPr wrap="square" lIns="0" tIns="0" rIns="0" bIns="0" rtlCol="0" anchor="ctr"/>
          <a:lstStyle/>
          <a:p>
            <a:pPr algn="ctr" indent="0" marL="0">
              <a:buNone/>
            </a:pPr>
            <a:r>
              <a:rPr lang="en-US" sz="1300" b="1" dirty="0">
                <a:solidFill>
                  <a:srgbClr val="1C2B39"/>
                </a:solidFill>
                <a:latin typeface="Calibri" pitchFamily="34" charset="0"/>
                <a:ea typeface="Calibri" pitchFamily="34" charset="-122"/>
                <a:cs typeface="Calibri" pitchFamily="34" charset="-120"/>
              </a:rPr>
              <a:t>Google Translate</a:t>
            </a:r>
            <a:endParaRPr lang="en-US" sz="1300" dirty="0"/>
          </a:p>
        </p:txBody>
      </p:sp>
      <p:sp>
        <p:nvSpPr>
          <p:cNvPr id="33" name="Text 25"/>
          <p:cNvSpPr txBox="1"/>
          <p:nvPr/>
        </p:nvSpPr>
        <p:spPr>
          <a:xfrm>
            <a:off x="3429000" y="5074920"/>
            <a:ext cx="2423160" cy="32004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Machine translation</a:t>
            </a:r>
            <a:endParaRPr lang="en-US" sz="1000" dirty="0"/>
          </a:p>
        </p:txBody>
      </p:sp>
      <p:sp>
        <p:nvSpPr>
          <p:cNvPr id="34" name="Shape 26"/>
          <p:cNvSpPr/>
          <p:nvPr/>
        </p:nvSpPr>
        <p:spPr>
          <a:xfrm>
            <a:off x="6172200" y="3657600"/>
            <a:ext cx="2606040" cy="1828800"/>
          </a:xfrm>
          <a:prstGeom prst="roundRect">
            <a:avLst>
              <a:gd name="adj" fmla="val 4000"/>
            </a:avLst>
          </a:prstGeom>
          <a:solidFill>
            <a:srgbClr val="FFFFFF"/>
          </a:solidFill>
          <a:ln/>
        </p:spPr>
      </p:sp>
      <p:sp>
        <p:nvSpPr>
          <p:cNvPr id="35" name="Shape 27"/>
          <p:cNvSpPr/>
          <p:nvPr/>
        </p:nvSpPr>
        <p:spPr>
          <a:xfrm>
            <a:off x="7132320" y="3931920"/>
            <a:ext cx="685800" cy="685800"/>
          </a:xfrm>
          <a:prstGeom prst="ellipse">
            <a:avLst/>
          </a:prstGeom>
          <a:solidFill>
            <a:srgbClr val="E7E9EB"/>
          </a:solidFill>
          <a:ln/>
        </p:spPr>
      </p:sp>
      <p:pic>
        <p:nvPicPr>
          <p:cNvPr id="36" name="Image 6" descr="/home/claude/ppt/icons/huggingface_navy.png">    </p:cNvPr>
          <p:cNvPicPr>
            <a:picLocks noChangeAspect="1"/>
          </p:cNvPicPr>
          <p:nvPr/>
        </p:nvPicPr>
        <p:blipFill>
          <a:blip r:embed="rId7"/>
          <a:stretch>
            <a:fillRect/>
          </a:stretch>
        </p:blipFill>
        <p:spPr>
          <a:xfrm>
            <a:off x="7303770" y="4103370"/>
            <a:ext cx="342900" cy="342900"/>
          </a:xfrm>
          <a:prstGeom prst="rect">
            <a:avLst/>
          </a:prstGeom>
        </p:spPr>
      </p:pic>
      <p:sp>
        <p:nvSpPr>
          <p:cNvPr id="37" name="Text 28"/>
          <p:cNvSpPr txBox="1"/>
          <p:nvPr/>
        </p:nvSpPr>
        <p:spPr>
          <a:xfrm>
            <a:off x="6263640" y="4754880"/>
            <a:ext cx="2423160" cy="320040"/>
          </a:xfrm>
          <a:prstGeom prst="rect">
            <a:avLst/>
          </a:prstGeom>
          <a:noFill/>
          <a:ln/>
        </p:spPr>
        <p:txBody>
          <a:bodyPr wrap="square" lIns="0" tIns="0" rIns="0" bIns="0" rtlCol="0" anchor="ctr"/>
          <a:lstStyle/>
          <a:p>
            <a:pPr algn="ctr" indent="0" marL="0">
              <a:buNone/>
            </a:pPr>
            <a:r>
              <a:rPr lang="en-US" sz="1300" b="1" dirty="0">
                <a:solidFill>
                  <a:srgbClr val="1C2B39"/>
                </a:solidFill>
                <a:latin typeface="Calibri" pitchFamily="34" charset="0"/>
                <a:ea typeface="Calibri" pitchFamily="34" charset="-122"/>
                <a:cs typeface="Calibri" pitchFamily="34" charset="-120"/>
              </a:rPr>
              <a:t>Hugging Chat</a:t>
            </a:r>
            <a:endParaRPr lang="en-US" sz="1300" dirty="0"/>
          </a:p>
        </p:txBody>
      </p:sp>
      <p:sp>
        <p:nvSpPr>
          <p:cNvPr id="38" name="Text 29"/>
          <p:cNvSpPr txBox="1"/>
          <p:nvPr/>
        </p:nvSpPr>
        <p:spPr>
          <a:xfrm>
            <a:off x="6263640" y="5074920"/>
            <a:ext cx="2423160" cy="32004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Chatbot practice</a:t>
            </a:r>
            <a:endParaRPr lang="en-US" sz="1000" dirty="0"/>
          </a:p>
        </p:txBody>
      </p:sp>
      <p:sp>
        <p:nvSpPr>
          <p:cNvPr id="39" name="Shape 30"/>
          <p:cNvSpPr/>
          <p:nvPr/>
        </p:nvSpPr>
        <p:spPr>
          <a:xfrm>
            <a:off x="9006840" y="3657600"/>
            <a:ext cx="2606040" cy="1828800"/>
          </a:xfrm>
          <a:prstGeom prst="roundRect">
            <a:avLst>
              <a:gd name="adj" fmla="val 4000"/>
            </a:avLst>
          </a:prstGeom>
          <a:solidFill>
            <a:srgbClr val="FFFFFF"/>
          </a:solidFill>
          <a:ln/>
        </p:spPr>
      </p:sp>
      <p:sp>
        <p:nvSpPr>
          <p:cNvPr id="40" name="Shape 31"/>
          <p:cNvSpPr/>
          <p:nvPr/>
        </p:nvSpPr>
        <p:spPr>
          <a:xfrm>
            <a:off x="9966960" y="3931920"/>
            <a:ext cx="685800" cy="685800"/>
          </a:xfrm>
          <a:prstGeom prst="ellipse">
            <a:avLst/>
          </a:prstGeom>
          <a:solidFill>
            <a:srgbClr val="E7E9EB"/>
          </a:solidFill>
          <a:ln/>
        </p:spPr>
      </p:sp>
      <p:pic>
        <p:nvPicPr>
          <p:cNvPr id="41" name="Image 7" descr="/home/claude/ppt/icons/note_navy.png">    </p:cNvPr>
          <p:cNvPicPr>
            <a:picLocks noChangeAspect="1"/>
          </p:cNvPicPr>
          <p:nvPr/>
        </p:nvPicPr>
        <p:blipFill>
          <a:blip r:embed="rId8"/>
          <a:stretch>
            <a:fillRect/>
          </a:stretch>
        </p:blipFill>
        <p:spPr>
          <a:xfrm>
            <a:off x="10138410" y="4103370"/>
            <a:ext cx="342900" cy="342900"/>
          </a:xfrm>
          <a:prstGeom prst="rect">
            <a:avLst/>
          </a:prstGeom>
        </p:spPr>
      </p:pic>
      <p:sp>
        <p:nvSpPr>
          <p:cNvPr id="42" name="Text 32"/>
          <p:cNvSpPr txBox="1"/>
          <p:nvPr/>
        </p:nvSpPr>
        <p:spPr>
          <a:xfrm>
            <a:off x="9098280" y="4754880"/>
            <a:ext cx="2423160" cy="320040"/>
          </a:xfrm>
          <a:prstGeom prst="rect">
            <a:avLst/>
          </a:prstGeom>
          <a:noFill/>
          <a:ln/>
        </p:spPr>
        <p:txBody>
          <a:bodyPr wrap="square" lIns="0" tIns="0" rIns="0" bIns="0" rtlCol="0" anchor="ctr"/>
          <a:lstStyle/>
          <a:p>
            <a:pPr algn="ctr" indent="0" marL="0">
              <a:buNone/>
            </a:pPr>
            <a:r>
              <a:rPr lang="en-US" sz="1300" b="1" dirty="0">
                <a:solidFill>
                  <a:srgbClr val="1C2B39"/>
                </a:solidFill>
                <a:latin typeface="Calibri" pitchFamily="34" charset="0"/>
                <a:ea typeface="Calibri" pitchFamily="34" charset="-122"/>
                <a:cs typeface="Calibri" pitchFamily="34" charset="-120"/>
              </a:rPr>
              <a:t>NotebookLM</a:t>
            </a:r>
            <a:endParaRPr lang="en-US" sz="1300" dirty="0"/>
          </a:p>
        </p:txBody>
      </p:sp>
      <p:sp>
        <p:nvSpPr>
          <p:cNvPr id="43" name="Text 33"/>
          <p:cNvSpPr txBox="1"/>
          <p:nvPr/>
        </p:nvSpPr>
        <p:spPr>
          <a:xfrm>
            <a:off x="9098280" y="5074920"/>
            <a:ext cx="2423160" cy="32004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AI note-taking</a:t>
            </a:r>
            <a:endParaRPr lang="en-US" sz="1000" dirty="0"/>
          </a:p>
        </p:txBody>
      </p:sp>
      <p:sp>
        <p:nvSpPr>
          <p:cNvPr id="44" name="Text 34"/>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Introduction to Modern AI • Pushpendra Singh</a:t>
            </a:r>
            <a:endParaRPr lang="en-US" sz="1000" dirty="0"/>
          </a:p>
        </p:txBody>
      </p:sp>
      <p:sp>
        <p:nvSpPr>
          <p:cNvPr id="45" name="Text 35"/>
          <p:cNvSpPr txBox="1"/>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C2B39"/>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E8890C"/>
                </a:solidFill>
                <a:latin typeface="Calibri" pitchFamily="34" charset="0"/>
                <a:ea typeface="Calibri" pitchFamily="34" charset="-122"/>
                <a:cs typeface="Calibri" pitchFamily="34" charset="-120"/>
              </a:rPr>
              <a:t>COURSE STRUCTURE</a:t>
            </a:r>
            <a:endParaRPr lang="en-US" sz="1200" dirty="0"/>
          </a:p>
        </p:txBody>
      </p:sp>
      <p:sp>
        <p:nvSpPr>
          <p:cNvPr id="3" name="Text 1"/>
          <p:cNvSpPr txBox="1"/>
          <p:nvPr/>
        </p:nvSpPr>
        <p:spPr>
          <a:xfrm>
            <a:off x="502920" y="777240"/>
            <a:ext cx="109728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From First Concepts to Applied AI Skill</a:t>
            </a:r>
            <a:endParaRPr lang="en-US" sz="2800" dirty="0"/>
          </a:p>
        </p:txBody>
      </p:sp>
      <p:sp>
        <p:nvSpPr>
          <p:cNvPr id="4" name="Shape 2"/>
          <p:cNvSpPr/>
          <p:nvPr/>
        </p:nvSpPr>
        <p:spPr>
          <a:xfrm>
            <a:off x="502920" y="1600200"/>
            <a:ext cx="11155680" cy="804672"/>
          </a:xfrm>
          <a:prstGeom prst="roundRect">
            <a:avLst>
              <a:gd name="adj" fmla="val 6818"/>
            </a:avLst>
          </a:prstGeom>
          <a:solidFill>
            <a:srgbClr val="141F29"/>
          </a:solidFill>
          <a:ln/>
        </p:spPr>
      </p:sp>
      <p:sp>
        <p:nvSpPr>
          <p:cNvPr id="5" name="Shape 3"/>
          <p:cNvSpPr/>
          <p:nvPr/>
        </p:nvSpPr>
        <p:spPr>
          <a:xfrm>
            <a:off x="777240" y="1751076"/>
            <a:ext cx="502920" cy="502920"/>
          </a:xfrm>
          <a:prstGeom prst="ellipse">
            <a:avLst/>
          </a:prstGeom>
          <a:solidFill>
            <a:srgbClr val="E8890C"/>
          </a:solidFill>
          <a:ln/>
        </p:spPr>
      </p:sp>
      <p:pic>
        <p:nvPicPr>
          <p:cNvPr id="6" name="Image 0" descr="/home/claude/ppt/icons/brain.png">    </p:cNvPr>
          <p:cNvPicPr>
            <a:picLocks noChangeAspect="1"/>
          </p:cNvPicPr>
          <p:nvPr/>
        </p:nvPicPr>
        <p:blipFill>
          <a:blip r:embed="rId1"/>
          <a:stretch>
            <a:fillRect/>
          </a:stretch>
        </p:blipFill>
        <p:spPr>
          <a:xfrm>
            <a:off x="890397" y="1864233"/>
            <a:ext cx="276606" cy="276606"/>
          </a:xfrm>
          <a:prstGeom prst="rect">
            <a:avLst/>
          </a:prstGeom>
        </p:spPr>
      </p:pic>
      <p:sp>
        <p:nvSpPr>
          <p:cNvPr id="7" name="Text 4"/>
          <p:cNvSpPr txBox="1"/>
          <p:nvPr/>
        </p:nvSpPr>
        <p:spPr>
          <a:xfrm>
            <a:off x="1508760" y="1673352"/>
            <a:ext cx="2834640" cy="65836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Foundations Layer</a:t>
            </a:r>
            <a:endParaRPr lang="en-US" sz="1350" dirty="0"/>
          </a:p>
        </p:txBody>
      </p:sp>
      <p:sp>
        <p:nvSpPr>
          <p:cNvPr id="8" name="Text 5"/>
          <p:cNvSpPr txBox="1"/>
          <p:nvPr/>
        </p:nvSpPr>
        <p:spPr>
          <a:xfrm>
            <a:off x="4434840" y="1673352"/>
            <a:ext cx="6949440" cy="658368"/>
          </a:xfrm>
          <a:prstGeom prst="rect">
            <a:avLst/>
          </a:prstGeom>
          <a:noFill/>
          <a:ln/>
        </p:spPr>
        <p:txBody>
          <a:bodyPr wrap="square" lIns="0" tIns="0" rIns="0" bIns="0" rtlCol="0" anchor="ctr"/>
          <a:lstStyle/>
          <a:p>
            <a:pPr indent="0" marL="0">
              <a:buNone/>
            </a:pPr>
            <a:r>
              <a:rPr lang="en-US" sz="1200" dirty="0">
                <a:solidFill>
                  <a:srgbClr val="B9C2CC"/>
                </a:solidFill>
                <a:latin typeface="Calibri" pitchFamily="34" charset="0"/>
                <a:ea typeface="Calibri" pitchFamily="34" charset="-122"/>
                <a:cs typeface="Calibri" pitchFamily="34" charset="-120"/>
              </a:rPr>
              <a:t>Core AI concepts: what AI is, how it works, and its everyday uses.</a:t>
            </a:r>
            <a:endParaRPr lang="en-US" sz="1200" dirty="0"/>
          </a:p>
        </p:txBody>
      </p:sp>
      <p:sp>
        <p:nvSpPr>
          <p:cNvPr id="9" name="Text 6"/>
          <p:cNvSpPr txBox="1"/>
          <p:nvPr/>
        </p:nvSpPr>
        <p:spPr>
          <a:xfrm>
            <a:off x="685800" y="2409444"/>
            <a:ext cx="365760" cy="118872"/>
          </a:xfrm>
          <a:prstGeom prst="rect">
            <a:avLst/>
          </a:prstGeom>
          <a:noFill/>
          <a:ln/>
        </p:spPr>
        <p:txBody>
          <a:bodyPr wrap="square" lIns="0" tIns="0" rIns="0" bIns="0" rtlCol="0" anchor="ctr"/>
          <a:lstStyle/>
          <a:p>
            <a:pPr algn="ctr" indent="0" marL="0">
              <a:buNone/>
            </a:pPr>
            <a:r>
              <a:rPr lang="en-US" sz="1100" dirty="0">
                <a:solidFill>
                  <a:srgbClr val="E8890C"/>
                </a:solidFill>
                <a:latin typeface="Arial" pitchFamily="34" charset="0"/>
                <a:ea typeface="Arial" pitchFamily="34" charset="-122"/>
                <a:cs typeface="Arial" pitchFamily="34" charset="-120"/>
              </a:rPr>
              <a:t>↓</a:t>
            </a:r>
            <a:endParaRPr lang="en-US" sz="1100" dirty="0"/>
          </a:p>
        </p:txBody>
      </p:sp>
      <p:sp>
        <p:nvSpPr>
          <p:cNvPr id="10" name="Shape 7"/>
          <p:cNvSpPr/>
          <p:nvPr/>
        </p:nvSpPr>
        <p:spPr>
          <a:xfrm>
            <a:off x="502920" y="2532888"/>
            <a:ext cx="11155680" cy="804672"/>
          </a:xfrm>
          <a:prstGeom prst="roundRect">
            <a:avLst>
              <a:gd name="adj" fmla="val 6818"/>
            </a:avLst>
          </a:prstGeom>
          <a:solidFill>
            <a:srgbClr val="141F29"/>
          </a:solidFill>
          <a:ln/>
        </p:spPr>
      </p:sp>
      <p:sp>
        <p:nvSpPr>
          <p:cNvPr id="11" name="Shape 8"/>
          <p:cNvSpPr/>
          <p:nvPr/>
        </p:nvSpPr>
        <p:spPr>
          <a:xfrm>
            <a:off x="777240" y="2683764"/>
            <a:ext cx="502920" cy="502920"/>
          </a:xfrm>
          <a:prstGeom prst="ellipse">
            <a:avLst/>
          </a:prstGeom>
          <a:solidFill>
            <a:srgbClr val="E8890C"/>
          </a:solidFill>
          <a:ln/>
        </p:spPr>
      </p:sp>
      <p:pic>
        <p:nvPicPr>
          <p:cNvPr id="12" name="Image 1" descr="/home/claude/ppt/icons/eye.png">    </p:cNvPr>
          <p:cNvPicPr>
            <a:picLocks noChangeAspect="1"/>
          </p:cNvPicPr>
          <p:nvPr/>
        </p:nvPicPr>
        <p:blipFill>
          <a:blip r:embed="rId2"/>
          <a:stretch>
            <a:fillRect/>
          </a:stretch>
        </p:blipFill>
        <p:spPr>
          <a:xfrm>
            <a:off x="890397" y="2796921"/>
            <a:ext cx="276606" cy="276606"/>
          </a:xfrm>
          <a:prstGeom prst="rect">
            <a:avLst/>
          </a:prstGeom>
        </p:spPr>
      </p:pic>
      <p:sp>
        <p:nvSpPr>
          <p:cNvPr id="13" name="Text 9"/>
          <p:cNvSpPr txBox="1"/>
          <p:nvPr/>
        </p:nvSpPr>
        <p:spPr>
          <a:xfrm>
            <a:off x="1508760" y="2606040"/>
            <a:ext cx="2834640" cy="65836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Applied AI Layer</a:t>
            </a:r>
            <a:endParaRPr lang="en-US" sz="1350" dirty="0"/>
          </a:p>
        </p:txBody>
      </p:sp>
      <p:sp>
        <p:nvSpPr>
          <p:cNvPr id="14" name="Text 10"/>
          <p:cNvSpPr txBox="1"/>
          <p:nvPr/>
        </p:nvSpPr>
        <p:spPr>
          <a:xfrm>
            <a:off x="4434840" y="2606040"/>
            <a:ext cx="6949440" cy="658368"/>
          </a:xfrm>
          <a:prstGeom prst="rect">
            <a:avLst/>
          </a:prstGeom>
          <a:noFill/>
          <a:ln/>
        </p:spPr>
        <p:txBody>
          <a:bodyPr wrap="square" lIns="0" tIns="0" rIns="0" bIns="0" rtlCol="0" anchor="ctr"/>
          <a:lstStyle/>
          <a:p>
            <a:pPr indent="0" marL="0">
              <a:buNone/>
            </a:pPr>
            <a:r>
              <a:rPr lang="en-US" sz="1200" dirty="0">
                <a:solidFill>
                  <a:srgbClr val="B9C2CC"/>
                </a:solidFill>
                <a:latin typeface="Calibri" pitchFamily="34" charset="0"/>
                <a:ea typeface="Calibri" pitchFamily="34" charset="-122"/>
                <a:cs typeface="Calibri" pitchFamily="34" charset="-120"/>
              </a:rPr>
              <a:t>Hands-on practice with computer vision and machine translation tools.</a:t>
            </a:r>
            <a:endParaRPr lang="en-US" sz="1200" dirty="0"/>
          </a:p>
        </p:txBody>
      </p:sp>
      <p:sp>
        <p:nvSpPr>
          <p:cNvPr id="15" name="Text 11"/>
          <p:cNvSpPr txBox="1"/>
          <p:nvPr/>
        </p:nvSpPr>
        <p:spPr>
          <a:xfrm>
            <a:off x="685800" y="3342132"/>
            <a:ext cx="365760" cy="118872"/>
          </a:xfrm>
          <a:prstGeom prst="rect">
            <a:avLst/>
          </a:prstGeom>
          <a:noFill/>
          <a:ln/>
        </p:spPr>
        <p:txBody>
          <a:bodyPr wrap="square" lIns="0" tIns="0" rIns="0" bIns="0" rtlCol="0" anchor="ctr"/>
          <a:lstStyle/>
          <a:p>
            <a:pPr algn="ctr" indent="0" marL="0">
              <a:buNone/>
            </a:pPr>
            <a:r>
              <a:rPr lang="en-US" sz="1100" dirty="0">
                <a:solidFill>
                  <a:srgbClr val="E8890C"/>
                </a:solidFill>
                <a:latin typeface="Arial" pitchFamily="34" charset="0"/>
                <a:ea typeface="Arial" pitchFamily="34" charset="-122"/>
                <a:cs typeface="Arial" pitchFamily="34" charset="-120"/>
              </a:rPr>
              <a:t>↓</a:t>
            </a:r>
            <a:endParaRPr lang="en-US" sz="1100" dirty="0"/>
          </a:p>
        </p:txBody>
      </p:sp>
      <p:sp>
        <p:nvSpPr>
          <p:cNvPr id="16" name="Shape 12"/>
          <p:cNvSpPr/>
          <p:nvPr/>
        </p:nvSpPr>
        <p:spPr>
          <a:xfrm>
            <a:off x="502920" y="3465576"/>
            <a:ext cx="11155680" cy="804672"/>
          </a:xfrm>
          <a:prstGeom prst="roundRect">
            <a:avLst>
              <a:gd name="adj" fmla="val 6818"/>
            </a:avLst>
          </a:prstGeom>
          <a:solidFill>
            <a:srgbClr val="141F29"/>
          </a:solidFill>
          <a:ln/>
        </p:spPr>
      </p:sp>
      <p:sp>
        <p:nvSpPr>
          <p:cNvPr id="17" name="Shape 13"/>
          <p:cNvSpPr/>
          <p:nvPr/>
        </p:nvSpPr>
        <p:spPr>
          <a:xfrm>
            <a:off x="777240" y="3616452"/>
            <a:ext cx="502920" cy="502920"/>
          </a:xfrm>
          <a:prstGeom prst="ellipse">
            <a:avLst/>
          </a:prstGeom>
          <a:solidFill>
            <a:srgbClr val="E8890C"/>
          </a:solidFill>
          <a:ln/>
        </p:spPr>
      </p:sp>
      <p:pic>
        <p:nvPicPr>
          <p:cNvPr id="18" name="Image 2" descr="/home/claude/ppt/icons/comments.png">    </p:cNvPr>
          <p:cNvPicPr>
            <a:picLocks noChangeAspect="1"/>
          </p:cNvPicPr>
          <p:nvPr/>
        </p:nvPicPr>
        <p:blipFill>
          <a:blip r:embed="rId3"/>
          <a:stretch>
            <a:fillRect/>
          </a:stretch>
        </p:blipFill>
        <p:spPr>
          <a:xfrm>
            <a:off x="890397" y="3729609"/>
            <a:ext cx="276606" cy="276606"/>
          </a:xfrm>
          <a:prstGeom prst="rect">
            <a:avLst/>
          </a:prstGeom>
        </p:spPr>
      </p:pic>
      <p:sp>
        <p:nvSpPr>
          <p:cNvPr id="19" name="Text 14"/>
          <p:cNvSpPr txBox="1"/>
          <p:nvPr/>
        </p:nvSpPr>
        <p:spPr>
          <a:xfrm>
            <a:off x="1508760" y="3538728"/>
            <a:ext cx="2834640" cy="65836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Chatbot Layer</a:t>
            </a:r>
            <a:endParaRPr lang="en-US" sz="1350" dirty="0"/>
          </a:p>
        </p:txBody>
      </p:sp>
      <p:sp>
        <p:nvSpPr>
          <p:cNvPr id="20" name="Text 15"/>
          <p:cNvSpPr txBox="1"/>
          <p:nvPr/>
        </p:nvSpPr>
        <p:spPr>
          <a:xfrm>
            <a:off x="4434840" y="3538728"/>
            <a:ext cx="6949440" cy="658368"/>
          </a:xfrm>
          <a:prstGeom prst="rect">
            <a:avLst/>
          </a:prstGeom>
          <a:noFill/>
          <a:ln/>
        </p:spPr>
        <p:txBody>
          <a:bodyPr wrap="square" lIns="0" tIns="0" rIns="0" bIns="0" rtlCol="0" anchor="ctr"/>
          <a:lstStyle/>
          <a:p>
            <a:pPr indent="0" marL="0">
              <a:buNone/>
            </a:pPr>
            <a:r>
              <a:rPr lang="en-US" sz="1200" dirty="0">
                <a:solidFill>
                  <a:srgbClr val="B9C2CC"/>
                </a:solidFill>
                <a:latin typeface="Calibri" pitchFamily="34" charset="0"/>
                <a:ea typeface="Calibri" pitchFamily="34" charset="-122"/>
                <a:cs typeface="Calibri" pitchFamily="34" charset="-120"/>
              </a:rPr>
              <a:t>Prompt-writing techniques practiced across 10+ popular AI chatbots.</a:t>
            </a:r>
            <a:endParaRPr lang="en-US" sz="1200" dirty="0"/>
          </a:p>
        </p:txBody>
      </p:sp>
      <p:sp>
        <p:nvSpPr>
          <p:cNvPr id="21" name="Text 16"/>
          <p:cNvSpPr txBox="1"/>
          <p:nvPr/>
        </p:nvSpPr>
        <p:spPr>
          <a:xfrm>
            <a:off x="685800" y="4274820"/>
            <a:ext cx="365760" cy="118872"/>
          </a:xfrm>
          <a:prstGeom prst="rect">
            <a:avLst/>
          </a:prstGeom>
          <a:noFill/>
          <a:ln/>
        </p:spPr>
        <p:txBody>
          <a:bodyPr wrap="square" lIns="0" tIns="0" rIns="0" bIns="0" rtlCol="0" anchor="ctr"/>
          <a:lstStyle/>
          <a:p>
            <a:pPr algn="ctr" indent="0" marL="0">
              <a:buNone/>
            </a:pPr>
            <a:r>
              <a:rPr lang="en-US" sz="1100" dirty="0">
                <a:solidFill>
                  <a:srgbClr val="E8890C"/>
                </a:solidFill>
                <a:latin typeface="Arial" pitchFamily="34" charset="0"/>
                <a:ea typeface="Arial" pitchFamily="34" charset="-122"/>
                <a:cs typeface="Arial" pitchFamily="34" charset="-120"/>
              </a:rPr>
              <a:t>↓</a:t>
            </a:r>
            <a:endParaRPr lang="en-US" sz="1100" dirty="0"/>
          </a:p>
        </p:txBody>
      </p:sp>
      <p:sp>
        <p:nvSpPr>
          <p:cNvPr id="22" name="Shape 17"/>
          <p:cNvSpPr/>
          <p:nvPr/>
        </p:nvSpPr>
        <p:spPr>
          <a:xfrm>
            <a:off x="502920" y="4398264"/>
            <a:ext cx="11155680" cy="804672"/>
          </a:xfrm>
          <a:prstGeom prst="roundRect">
            <a:avLst>
              <a:gd name="adj" fmla="val 6818"/>
            </a:avLst>
          </a:prstGeom>
          <a:solidFill>
            <a:srgbClr val="141F29"/>
          </a:solidFill>
          <a:ln/>
        </p:spPr>
      </p:sp>
      <p:sp>
        <p:nvSpPr>
          <p:cNvPr id="23" name="Shape 18"/>
          <p:cNvSpPr/>
          <p:nvPr/>
        </p:nvSpPr>
        <p:spPr>
          <a:xfrm>
            <a:off x="777240" y="4549140"/>
            <a:ext cx="502920" cy="502920"/>
          </a:xfrm>
          <a:prstGeom prst="ellipse">
            <a:avLst/>
          </a:prstGeom>
          <a:solidFill>
            <a:srgbClr val="E8890C"/>
          </a:solidFill>
          <a:ln/>
        </p:spPr>
      </p:sp>
      <p:pic>
        <p:nvPicPr>
          <p:cNvPr id="24" name="Image 3" descr="/home/claude/ppt/icons/project.png">    </p:cNvPr>
          <p:cNvPicPr>
            <a:picLocks noChangeAspect="1"/>
          </p:cNvPicPr>
          <p:nvPr/>
        </p:nvPicPr>
        <p:blipFill>
          <a:blip r:embed="rId4"/>
          <a:stretch>
            <a:fillRect/>
          </a:stretch>
        </p:blipFill>
        <p:spPr>
          <a:xfrm>
            <a:off x="890397" y="4662297"/>
            <a:ext cx="276606" cy="276606"/>
          </a:xfrm>
          <a:prstGeom prst="rect">
            <a:avLst/>
          </a:prstGeom>
        </p:spPr>
      </p:pic>
      <p:sp>
        <p:nvSpPr>
          <p:cNvPr id="25" name="Text 19"/>
          <p:cNvSpPr txBox="1"/>
          <p:nvPr/>
        </p:nvSpPr>
        <p:spPr>
          <a:xfrm>
            <a:off x="1508760" y="4471416"/>
            <a:ext cx="2834640" cy="65836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Project Layer</a:t>
            </a:r>
            <a:endParaRPr lang="en-US" sz="1350" dirty="0"/>
          </a:p>
        </p:txBody>
      </p:sp>
      <p:sp>
        <p:nvSpPr>
          <p:cNvPr id="26" name="Text 20"/>
          <p:cNvSpPr txBox="1"/>
          <p:nvPr/>
        </p:nvSpPr>
        <p:spPr>
          <a:xfrm>
            <a:off x="4434840" y="4471416"/>
            <a:ext cx="6949440" cy="658368"/>
          </a:xfrm>
          <a:prstGeom prst="rect">
            <a:avLst/>
          </a:prstGeom>
          <a:noFill/>
          <a:ln/>
        </p:spPr>
        <p:txBody>
          <a:bodyPr wrap="square" lIns="0" tIns="0" rIns="0" bIns="0" rtlCol="0" anchor="ctr"/>
          <a:lstStyle/>
          <a:p>
            <a:pPr indent="0" marL="0">
              <a:buNone/>
            </a:pPr>
            <a:r>
              <a:rPr lang="en-US" sz="1200" dirty="0">
                <a:solidFill>
                  <a:srgbClr val="B9C2CC"/>
                </a:solidFill>
                <a:latin typeface="Calibri" pitchFamily="34" charset="0"/>
                <a:ea typeface="Calibri" pitchFamily="34" charset="-122"/>
                <a:cs typeface="Calibri" pitchFamily="34" charset="-120"/>
              </a:rPr>
              <a:t>An open-ended project applying prompt-engineering skills learned.</a:t>
            </a:r>
            <a:endParaRPr lang="en-US" sz="1200" dirty="0"/>
          </a:p>
        </p:txBody>
      </p:sp>
      <p:sp>
        <p:nvSpPr>
          <p:cNvPr id="27" name="Text 21"/>
          <p:cNvSpPr txBox="1"/>
          <p:nvPr/>
        </p:nvSpPr>
        <p:spPr>
          <a:xfrm>
            <a:off x="685800" y="5207508"/>
            <a:ext cx="365760" cy="118872"/>
          </a:xfrm>
          <a:prstGeom prst="rect">
            <a:avLst/>
          </a:prstGeom>
          <a:noFill/>
          <a:ln/>
        </p:spPr>
        <p:txBody>
          <a:bodyPr wrap="square" lIns="0" tIns="0" rIns="0" bIns="0" rtlCol="0" anchor="ctr"/>
          <a:lstStyle/>
          <a:p>
            <a:pPr algn="ctr" indent="0" marL="0">
              <a:buNone/>
            </a:pPr>
            <a:r>
              <a:rPr lang="en-US" sz="1100" dirty="0">
                <a:solidFill>
                  <a:srgbClr val="E8890C"/>
                </a:solidFill>
                <a:latin typeface="Arial" pitchFamily="34" charset="0"/>
                <a:ea typeface="Arial" pitchFamily="34" charset="-122"/>
                <a:cs typeface="Arial" pitchFamily="34" charset="-120"/>
              </a:rPr>
              <a:t>↓</a:t>
            </a:r>
            <a:endParaRPr lang="en-US" sz="1100" dirty="0"/>
          </a:p>
        </p:txBody>
      </p:sp>
      <p:sp>
        <p:nvSpPr>
          <p:cNvPr id="28" name="Shape 22"/>
          <p:cNvSpPr/>
          <p:nvPr/>
        </p:nvSpPr>
        <p:spPr>
          <a:xfrm>
            <a:off x="502920" y="5330952"/>
            <a:ext cx="11155680" cy="804672"/>
          </a:xfrm>
          <a:prstGeom prst="roundRect">
            <a:avLst>
              <a:gd name="adj" fmla="val 6818"/>
            </a:avLst>
          </a:prstGeom>
          <a:solidFill>
            <a:srgbClr val="141F29"/>
          </a:solidFill>
          <a:ln/>
        </p:spPr>
      </p:sp>
      <p:sp>
        <p:nvSpPr>
          <p:cNvPr id="29" name="Shape 23"/>
          <p:cNvSpPr/>
          <p:nvPr/>
        </p:nvSpPr>
        <p:spPr>
          <a:xfrm>
            <a:off x="777240" y="5481828"/>
            <a:ext cx="502920" cy="502920"/>
          </a:xfrm>
          <a:prstGeom prst="ellipse">
            <a:avLst/>
          </a:prstGeom>
          <a:solidFill>
            <a:srgbClr val="E8890C"/>
          </a:solidFill>
          <a:ln/>
        </p:spPr>
      </p:sp>
      <p:pic>
        <p:nvPicPr>
          <p:cNvPr id="30" name="Image 4" descr="/home/claude/ppt/icons/badge.png">    </p:cNvPr>
          <p:cNvPicPr>
            <a:picLocks noChangeAspect="1"/>
          </p:cNvPicPr>
          <p:nvPr/>
        </p:nvPicPr>
        <p:blipFill>
          <a:blip r:embed="rId5"/>
          <a:stretch>
            <a:fillRect/>
          </a:stretch>
        </p:blipFill>
        <p:spPr>
          <a:xfrm>
            <a:off x="890397" y="5594985"/>
            <a:ext cx="276606" cy="276606"/>
          </a:xfrm>
          <a:prstGeom prst="rect">
            <a:avLst/>
          </a:prstGeom>
        </p:spPr>
      </p:pic>
      <p:sp>
        <p:nvSpPr>
          <p:cNvPr id="31" name="Text 24"/>
          <p:cNvSpPr txBox="1"/>
          <p:nvPr/>
        </p:nvSpPr>
        <p:spPr>
          <a:xfrm>
            <a:off x="1508760" y="5404104"/>
            <a:ext cx="2834640" cy="65836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Assessment Layer</a:t>
            </a:r>
            <a:endParaRPr lang="en-US" sz="1350" dirty="0"/>
          </a:p>
        </p:txBody>
      </p:sp>
      <p:sp>
        <p:nvSpPr>
          <p:cNvPr id="32" name="Text 25"/>
          <p:cNvSpPr txBox="1"/>
          <p:nvPr/>
        </p:nvSpPr>
        <p:spPr>
          <a:xfrm>
            <a:off x="4434840" y="5404104"/>
            <a:ext cx="6949440" cy="658368"/>
          </a:xfrm>
          <a:prstGeom prst="rect">
            <a:avLst/>
          </a:prstGeom>
          <a:noFill/>
          <a:ln/>
        </p:spPr>
        <p:txBody>
          <a:bodyPr wrap="square" lIns="0" tIns="0" rIns="0" bIns="0" rtlCol="0" anchor="ctr"/>
          <a:lstStyle/>
          <a:p>
            <a:pPr indent="0" marL="0">
              <a:buNone/>
            </a:pPr>
            <a:r>
              <a:rPr lang="en-US" sz="1200" dirty="0">
                <a:solidFill>
                  <a:srgbClr val="B9C2CC"/>
                </a:solidFill>
                <a:latin typeface="Calibri" pitchFamily="34" charset="0"/>
                <a:ea typeface="Calibri" pitchFamily="34" charset="-122"/>
                <a:cs typeface="Calibri" pitchFamily="34" charset="-120"/>
              </a:rPr>
              <a:t>Course assessment leading to the award of the Certificate of Completion.</a:t>
            </a:r>
            <a:endParaRPr lang="en-US" sz="1200" dirty="0"/>
          </a:p>
        </p:txBody>
      </p:sp>
      <p:sp>
        <p:nvSpPr>
          <p:cNvPr id="33" name="Text 26"/>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Introduction to Modern AI • Pushpendra Singh</a:t>
            </a:r>
            <a:endParaRPr lang="en-US" sz="1000" dirty="0"/>
          </a:p>
        </p:txBody>
      </p:sp>
      <p:sp>
        <p:nvSpPr>
          <p:cNvPr id="34" name="Text 27"/>
          <p:cNvSpPr txBox="1"/>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3F4"/>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E8890C"/>
                </a:solidFill>
                <a:latin typeface="Calibri" pitchFamily="34" charset="0"/>
                <a:ea typeface="Calibri" pitchFamily="34" charset="-122"/>
                <a:cs typeface="Calibri" pitchFamily="34" charset="-120"/>
              </a:rPr>
              <a:t>METHODOLOGY</a:t>
            </a:r>
            <a:endParaRPr lang="en-US" sz="1200" dirty="0"/>
          </a:p>
        </p:txBody>
      </p:sp>
      <p:sp>
        <p:nvSpPr>
          <p:cNvPr id="3" name="Text 1"/>
          <p:cNvSpPr txBox="1"/>
          <p:nvPr/>
        </p:nvSpPr>
        <p:spPr>
          <a:xfrm>
            <a:off x="502920" y="777240"/>
            <a:ext cx="10972800" cy="548640"/>
          </a:xfrm>
          <a:prstGeom prst="rect">
            <a:avLst/>
          </a:prstGeom>
          <a:noFill/>
          <a:ln/>
        </p:spPr>
        <p:txBody>
          <a:bodyPr wrap="square" lIns="0" tIns="0" rIns="0" bIns="0" rtlCol="0" anchor="ctr"/>
          <a:lstStyle/>
          <a:p>
            <a:pPr indent="0" marL="0">
              <a:buNone/>
            </a:pPr>
            <a:r>
              <a:rPr lang="en-US" sz="2800" b="1" dirty="0">
                <a:solidFill>
                  <a:srgbClr val="1C2B39"/>
                </a:solidFill>
                <a:latin typeface="Cambria" pitchFamily="34" charset="0"/>
                <a:ea typeface="Cambria" pitchFamily="34" charset="-122"/>
                <a:cs typeface="Cambria" pitchFamily="34" charset="-120"/>
              </a:rPr>
              <a:t>The Course Learning Journey</a:t>
            </a:r>
            <a:endParaRPr lang="en-US" sz="2800" dirty="0"/>
          </a:p>
        </p:txBody>
      </p:sp>
      <p:sp>
        <p:nvSpPr>
          <p:cNvPr id="4" name="Shape 2"/>
          <p:cNvSpPr/>
          <p:nvPr/>
        </p:nvSpPr>
        <p:spPr>
          <a:xfrm>
            <a:off x="502920" y="1600200"/>
            <a:ext cx="2651760" cy="3017520"/>
          </a:xfrm>
          <a:prstGeom prst="roundRect">
            <a:avLst>
              <a:gd name="adj" fmla="val 2759"/>
            </a:avLst>
          </a:prstGeom>
          <a:solidFill>
            <a:srgbClr val="FFFFFF"/>
          </a:solidFill>
          <a:ln/>
          <a:effectLst>
            <a:outerShdw sx="100000" sy="100000" kx="0" ky="0" algn="bl" rotWithShape="0" blurRad="76200" dist="25400" dir="5400000">
              <a:srgbClr val="000000">
                <a:alpha val="10000"/>
              </a:srgbClr>
            </a:outerShdw>
          </a:effectLst>
        </p:spPr>
      </p:sp>
      <p:sp>
        <p:nvSpPr>
          <p:cNvPr id="5" name="Shape 3"/>
          <p:cNvSpPr/>
          <p:nvPr/>
        </p:nvSpPr>
        <p:spPr>
          <a:xfrm>
            <a:off x="502920" y="1600200"/>
            <a:ext cx="2651760" cy="457200"/>
          </a:xfrm>
          <a:prstGeom prst="roundRect">
            <a:avLst>
              <a:gd name="adj" fmla="val 16000"/>
            </a:avLst>
          </a:prstGeom>
          <a:solidFill>
            <a:srgbClr val="1C2B39"/>
          </a:solidFill>
          <a:ln/>
        </p:spPr>
      </p:sp>
      <p:sp>
        <p:nvSpPr>
          <p:cNvPr id="6" name="Shape 4"/>
          <p:cNvSpPr/>
          <p:nvPr/>
        </p:nvSpPr>
        <p:spPr>
          <a:xfrm>
            <a:off x="502920" y="1828800"/>
            <a:ext cx="2651760" cy="228600"/>
          </a:xfrm>
          <a:prstGeom prst="rect">
            <a:avLst/>
          </a:prstGeom>
          <a:solidFill>
            <a:srgbClr val="1C2B39"/>
          </a:solidFill>
          <a:ln/>
        </p:spPr>
      </p:sp>
      <p:sp>
        <p:nvSpPr>
          <p:cNvPr id="7" name="Text 5"/>
          <p:cNvSpPr txBox="1"/>
          <p:nvPr/>
        </p:nvSpPr>
        <p:spPr>
          <a:xfrm>
            <a:off x="502920" y="1600200"/>
            <a:ext cx="2651760" cy="457200"/>
          </a:xfrm>
          <a:prstGeom prst="rect">
            <a:avLst/>
          </a:prstGeom>
          <a:noFill/>
          <a:ln/>
        </p:spPr>
        <p:txBody>
          <a:bodyPr wrap="square" lIns="0" tIns="0" rIns="0" bIns="0" rtlCol="0" anchor="ctr"/>
          <a:lstStyle/>
          <a:p>
            <a:pPr algn="ctr" indent="0" marL="0">
              <a:buNone/>
            </a:pPr>
            <a:r>
              <a:rPr lang="en-US" sz="1200" b="1" spc="100" kern="0" dirty="0">
                <a:solidFill>
                  <a:srgbClr val="E8890C"/>
                </a:solidFill>
                <a:latin typeface="Calibri" pitchFamily="34" charset="0"/>
                <a:ea typeface="Calibri" pitchFamily="34" charset="-122"/>
                <a:cs typeface="Calibri" pitchFamily="34" charset="-120"/>
              </a:rPr>
              <a:t>MODULE 1</a:t>
            </a:r>
            <a:endParaRPr lang="en-US" sz="1200" dirty="0"/>
          </a:p>
        </p:txBody>
      </p:sp>
      <p:sp>
        <p:nvSpPr>
          <p:cNvPr id="8" name="Shape 6"/>
          <p:cNvSpPr/>
          <p:nvPr/>
        </p:nvSpPr>
        <p:spPr>
          <a:xfrm>
            <a:off x="1508760" y="2286000"/>
            <a:ext cx="640080" cy="640080"/>
          </a:xfrm>
          <a:prstGeom prst="ellipse">
            <a:avLst/>
          </a:prstGeom>
          <a:solidFill>
            <a:srgbClr val="E7E9EB"/>
          </a:solidFill>
          <a:ln/>
        </p:spPr>
      </p:sp>
      <p:pic>
        <p:nvPicPr>
          <p:cNvPr id="9" name="Image 0" descr="/home/claude/ppt/icons/brain_navy.png">    </p:cNvPr>
          <p:cNvPicPr>
            <a:picLocks noChangeAspect="1"/>
          </p:cNvPicPr>
          <p:nvPr/>
        </p:nvPicPr>
        <p:blipFill>
          <a:blip r:embed="rId1"/>
          <a:stretch>
            <a:fillRect/>
          </a:stretch>
        </p:blipFill>
        <p:spPr>
          <a:xfrm>
            <a:off x="1652778" y="2430018"/>
            <a:ext cx="352044" cy="352044"/>
          </a:xfrm>
          <a:prstGeom prst="rect">
            <a:avLst/>
          </a:prstGeom>
        </p:spPr>
      </p:pic>
      <p:sp>
        <p:nvSpPr>
          <p:cNvPr id="10" name="Text 7"/>
          <p:cNvSpPr txBox="1"/>
          <p:nvPr/>
        </p:nvSpPr>
        <p:spPr>
          <a:xfrm>
            <a:off x="685800" y="3108960"/>
            <a:ext cx="2286000" cy="594360"/>
          </a:xfrm>
          <a:prstGeom prst="rect">
            <a:avLst/>
          </a:prstGeom>
          <a:noFill/>
          <a:ln/>
        </p:spPr>
        <p:txBody>
          <a:bodyPr wrap="square" lIns="0" tIns="0" rIns="0" bIns="0" rtlCol="0" anchor="t"/>
          <a:lstStyle/>
          <a:p>
            <a:pPr algn="ctr" indent="0" marL="0">
              <a:buNone/>
            </a:pPr>
            <a:r>
              <a:rPr lang="en-US" sz="1350" b="1" dirty="0">
                <a:solidFill>
                  <a:srgbClr val="1C2B39"/>
                </a:solidFill>
                <a:latin typeface="Calibri" pitchFamily="34" charset="0"/>
                <a:ea typeface="Calibri" pitchFamily="34" charset="-122"/>
                <a:cs typeface="Calibri" pitchFamily="34" charset="-120"/>
              </a:rPr>
              <a:t>Introduction to Modern AI</a:t>
            </a:r>
            <a:endParaRPr lang="en-US" sz="1350" dirty="0"/>
          </a:p>
        </p:txBody>
      </p:sp>
      <p:sp>
        <p:nvSpPr>
          <p:cNvPr id="11" name="Text 8"/>
          <p:cNvSpPr txBox="1"/>
          <p:nvPr/>
        </p:nvSpPr>
        <p:spPr>
          <a:xfrm>
            <a:off x="685800" y="3749040"/>
            <a:ext cx="2286000" cy="777240"/>
          </a:xfrm>
          <a:prstGeom prst="rect">
            <a:avLst/>
          </a:prstGeom>
          <a:noFill/>
          <a:ln/>
        </p:spPr>
        <p:txBody>
          <a:bodyPr wrap="square" lIns="0" tIns="0" rIns="0" bIns="0" rtlCol="0" anchor="t"/>
          <a:lstStyle/>
          <a:p>
            <a:pPr algn="ctr" indent="0" marL="0">
              <a:buNone/>
            </a:pPr>
            <a:r>
              <a:rPr lang="en-US" sz="1050" dirty="0">
                <a:solidFill>
                  <a:srgbClr val="6B7280"/>
                </a:solidFill>
                <a:latin typeface="Calibri" pitchFamily="34" charset="0"/>
                <a:ea typeface="Calibri" pitchFamily="34" charset="-122"/>
                <a:cs typeface="Calibri" pitchFamily="34" charset="-120"/>
              </a:rPr>
              <a:t>AI fundamentals, computer vision, and machine translation basics</a:t>
            </a:r>
            <a:endParaRPr lang="en-US" sz="1050" dirty="0"/>
          </a:p>
        </p:txBody>
      </p:sp>
      <p:sp>
        <p:nvSpPr>
          <p:cNvPr id="12" name="Shape 9"/>
          <p:cNvSpPr/>
          <p:nvPr/>
        </p:nvSpPr>
        <p:spPr>
          <a:xfrm>
            <a:off x="3383280" y="1600200"/>
            <a:ext cx="2651760" cy="3017520"/>
          </a:xfrm>
          <a:prstGeom prst="roundRect">
            <a:avLst>
              <a:gd name="adj" fmla="val 2759"/>
            </a:avLst>
          </a:prstGeom>
          <a:solidFill>
            <a:srgbClr val="FFFFFF"/>
          </a:solidFill>
          <a:ln/>
          <a:effectLst>
            <a:outerShdw sx="100000" sy="100000" kx="0" ky="0" algn="bl" rotWithShape="0" blurRad="76200" dist="25400" dir="5400000">
              <a:srgbClr val="000000">
                <a:alpha val="10000"/>
              </a:srgbClr>
            </a:outerShdw>
          </a:effectLst>
        </p:spPr>
      </p:sp>
      <p:sp>
        <p:nvSpPr>
          <p:cNvPr id="13" name="Shape 10"/>
          <p:cNvSpPr/>
          <p:nvPr/>
        </p:nvSpPr>
        <p:spPr>
          <a:xfrm>
            <a:off x="3383280" y="1600200"/>
            <a:ext cx="2651760" cy="457200"/>
          </a:xfrm>
          <a:prstGeom prst="roundRect">
            <a:avLst>
              <a:gd name="adj" fmla="val 16000"/>
            </a:avLst>
          </a:prstGeom>
          <a:solidFill>
            <a:srgbClr val="1C2B39"/>
          </a:solidFill>
          <a:ln/>
        </p:spPr>
      </p:sp>
      <p:sp>
        <p:nvSpPr>
          <p:cNvPr id="14" name="Shape 11"/>
          <p:cNvSpPr/>
          <p:nvPr/>
        </p:nvSpPr>
        <p:spPr>
          <a:xfrm>
            <a:off x="3383280" y="1828800"/>
            <a:ext cx="2651760" cy="228600"/>
          </a:xfrm>
          <a:prstGeom prst="rect">
            <a:avLst/>
          </a:prstGeom>
          <a:solidFill>
            <a:srgbClr val="1C2B39"/>
          </a:solidFill>
          <a:ln/>
        </p:spPr>
      </p:sp>
      <p:sp>
        <p:nvSpPr>
          <p:cNvPr id="15" name="Text 12"/>
          <p:cNvSpPr txBox="1"/>
          <p:nvPr/>
        </p:nvSpPr>
        <p:spPr>
          <a:xfrm>
            <a:off x="3383280" y="1600200"/>
            <a:ext cx="2651760" cy="457200"/>
          </a:xfrm>
          <a:prstGeom prst="rect">
            <a:avLst/>
          </a:prstGeom>
          <a:noFill/>
          <a:ln/>
        </p:spPr>
        <p:txBody>
          <a:bodyPr wrap="square" lIns="0" tIns="0" rIns="0" bIns="0" rtlCol="0" anchor="ctr"/>
          <a:lstStyle/>
          <a:p>
            <a:pPr algn="ctr" indent="0" marL="0">
              <a:buNone/>
            </a:pPr>
            <a:r>
              <a:rPr lang="en-US" sz="1200" b="1" spc="100" kern="0" dirty="0">
                <a:solidFill>
                  <a:srgbClr val="E8890C"/>
                </a:solidFill>
                <a:latin typeface="Calibri" pitchFamily="34" charset="0"/>
                <a:ea typeface="Calibri" pitchFamily="34" charset="-122"/>
                <a:cs typeface="Calibri" pitchFamily="34" charset="-120"/>
              </a:rPr>
              <a:t>MODULE 2</a:t>
            </a:r>
            <a:endParaRPr lang="en-US" sz="1200" dirty="0"/>
          </a:p>
        </p:txBody>
      </p:sp>
      <p:sp>
        <p:nvSpPr>
          <p:cNvPr id="16" name="Shape 13"/>
          <p:cNvSpPr/>
          <p:nvPr/>
        </p:nvSpPr>
        <p:spPr>
          <a:xfrm>
            <a:off x="4389120" y="2286000"/>
            <a:ext cx="640080" cy="640080"/>
          </a:xfrm>
          <a:prstGeom prst="ellipse">
            <a:avLst/>
          </a:prstGeom>
          <a:solidFill>
            <a:srgbClr val="E7E9EB"/>
          </a:solidFill>
          <a:ln/>
        </p:spPr>
      </p:sp>
      <p:pic>
        <p:nvPicPr>
          <p:cNvPr id="17" name="Image 1" descr="/home/claude/ppt/icons/comments_navy.png">    </p:cNvPr>
          <p:cNvPicPr>
            <a:picLocks noChangeAspect="1"/>
          </p:cNvPicPr>
          <p:nvPr/>
        </p:nvPicPr>
        <p:blipFill>
          <a:blip r:embed="rId2"/>
          <a:stretch>
            <a:fillRect/>
          </a:stretch>
        </p:blipFill>
        <p:spPr>
          <a:xfrm>
            <a:off x="4533138" y="2430018"/>
            <a:ext cx="352044" cy="352044"/>
          </a:xfrm>
          <a:prstGeom prst="rect">
            <a:avLst/>
          </a:prstGeom>
        </p:spPr>
      </p:pic>
      <p:sp>
        <p:nvSpPr>
          <p:cNvPr id="18" name="Text 14"/>
          <p:cNvSpPr txBox="1"/>
          <p:nvPr/>
        </p:nvSpPr>
        <p:spPr>
          <a:xfrm>
            <a:off x="3566160" y="3108960"/>
            <a:ext cx="2286000" cy="594360"/>
          </a:xfrm>
          <a:prstGeom prst="rect">
            <a:avLst/>
          </a:prstGeom>
          <a:noFill/>
          <a:ln/>
        </p:spPr>
        <p:txBody>
          <a:bodyPr wrap="square" lIns="0" tIns="0" rIns="0" bIns="0" rtlCol="0" anchor="t"/>
          <a:lstStyle/>
          <a:p>
            <a:pPr algn="ctr" indent="0" marL="0">
              <a:buNone/>
            </a:pPr>
            <a:r>
              <a:rPr lang="en-US" sz="1350" b="1" dirty="0">
                <a:solidFill>
                  <a:srgbClr val="1C2B39"/>
                </a:solidFill>
                <a:latin typeface="Calibri" pitchFamily="34" charset="0"/>
                <a:ea typeface="Calibri" pitchFamily="34" charset="-122"/>
                <a:cs typeface="Calibri" pitchFamily="34" charset="-120"/>
              </a:rPr>
              <a:t>Chatbots &amp; Prompt Engineering</a:t>
            </a:r>
            <a:endParaRPr lang="en-US" sz="1350" dirty="0"/>
          </a:p>
        </p:txBody>
      </p:sp>
      <p:sp>
        <p:nvSpPr>
          <p:cNvPr id="19" name="Text 15"/>
          <p:cNvSpPr txBox="1"/>
          <p:nvPr/>
        </p:nvSpPr>
        <p:spPr>
          <a:xfrm>
            <a:off x="3566160" y="3749040"/>
            <a:ext cx="2286000" cy="777240"/>
          </a:xfrm>
          <a:prstGeom prst="rect">
            <a:avLst/>
          </a:prstGeom>
          <a:noFill/>
          <a:ln/>
        </p:spPr>
        <p:txBody>
          <a:bodyPr wrap="square" lIns="0" tIns="0" rIns="0" bIns="0" rtlCol="0" anchor="t"/>
          <a:lstStyle/>
          <a:p>
            <a:pPr algn="ctr" indent="0" marL="0">
              <a:buNone/>
            </a:pPr>
            <a:r>
              <a:rPr lang="en-US" sz="1050" dirty="0">
                <a:solidFill>
                  <a:srgbClr val="6B7280"/>
                </a:solidFill>
                <a:latin typeface="Calibri" pitchFamily="34" charset="0"/>
                <a:ea typeface="Calibri" pitchFamily="34" charset="-122"/>
                <a:cs typeface="Calibri" pitchFamily="34" charset="-120"/>
              </a:rPr>
              <a:t>Techniques for effective prompts, practiced across 10+ AI tools</a:t>
            </a:r>
            <a:endParaRPr lang="en-US" sz="1050" dirty="0"/>
          </a:p>
        </p:txBody>
      </p:sp>
      <p:sp>
        <p:nvSpPr>
          <p:cNvPr id="20" name="Shape 16"/>
          <p:cNvSpPr/>
          <p:nvPr/>
        </p:nvSpPr>
        <p:spPr>
          <a:xfrm>
            <a:off x="6263640" y="1600200"/>
            <a:ext cx="2651760" cy="3017520"/>
          </a:xfrm>
          <a:prstGeom prst="roundRect">
            <a:avLst>
              <a:gd name="adj" fmla="val 2759"/>
            </a:avLst>
          </a:prstGeom>
          <a:solidFill>
            <a:srgbClr val="FFFFFF"/>
          </a:solidFill>
          <a:ln/>
          <a:effectLst>
            <a:outerShdw sx="100000" sy="100000" kx="0" ky="0" algn="bl" rotWithShape="0" blurRad="76200" dist="25400" dir="5400000">
              <a:srgbClr val="000000">
                <a:alpha val="10000"/>
              </a:srgbClr>
            </a:outerShdw>
          </a:effectLst>
        </p:spPr>
      </p:sp>
      <p:sp>
        <p:nvSpPr>
          <p:cNvPr id="21" name="Shape 17"/>
          <p:cNvSpPr/>
          <p:nvPr/>
        </p:nvSpPr>
        <p:spPr>
          <a:xfrm>
            <a:off x="6263640" y="1600200"/>
            <a:ext cx="2651760" cy="457200"/>
          </a:xfrm>
          <a:prstGeom prst="roundRect">
            <a:avLst>
              <a:gd name="adj" fmla="val 16000"/>
            </a:avLst>
          </a:prstGeom>
          <a:solidFill>
            <a:srgbClr val="1C2B39"/>
          </a:solidFill>
          <a:ln/>
        </p:spPr>
      </p:sp>
      <p:sp>
        <p:nvSpPr>
          <p:cNvPr id="22" name="Shape 18"/>
          <p:cNvSpPr/>
          <p:nvPr/>
        </p:nvSpPr>
        <p:spPr>
          <a:xfrm>
            <a:off x="6263640" y="1828800"/>
            <a:ext cx="2651760" cy="228600"/>
          </a:xfrm>
          <a:prstGeom prst="rect">
            <a:avLst/>
          </a:prstGeom>
          <a:solidFill>
            <a:srgbClr val="1C2B39"/>
          </a:solidFill>
          <a:ln/>
        </p:spPr>
      </p:sp>
      <p:sp>
        <p:nvSpPr>
          <p:cNvPr id="23" name="Text 19"/>
          <p:cNvSpPr txBox="1"/>
          <p:nvPr/>
        </p:nvSpPr>
        <p:spPr>
          <a:xfrm>
            <a:off x="6263640" y="1600200"/>
            <a:ext cx="2651760" cy="457200"/>
          </a:xfrm>
          <a:prstGeom prst="rect">
            <a:avLst/>
          </a:prstGeom>
          <a:noFill/>
          <a:ln/>
        </p:spPr>
        <p:txBody>
          <a:bodyPr wrap="square" lIns="0" tIns="0" rIns="0" bIns="0" rtlCol="0" anchor="ctr"/>
          <a:lstStyle/>
          <a:p>
            <a:pPr algn="ctr" indent="0" marL="0">
              <a:buNone/>
            </a:pPr>
            <a:r>
              <a:rPr lang="en-US" sz="1200" b="1" spc="100" kern="0" dirty="0">
                <a:solidFill>
                  <a:srgbClr val="E8890C"/>
                </a:solidFill>
                <a:latin typeface="Calibri" pitchFamily="34" charset="0"/>
                <a:ea typeface="Calibri" pitchFamily="34" charset="-122"/>
                <a:cs typeface="Calibri" pitchFamily="34" charset="-120"/>
              </a:rPr>
              <a:t>MODULE 3</a:t>
            </a:r>
            <a:endParaRPr lang="en-US" sz="1200" dirty="0"/>
          </a:p>
        </p:txBody>
      </p:sp>
      <p:sp>
        <p:nvSpPr>
          <p:cNvPr id="24" name="Shape 20"/>
          <p:cNvSpPr/>
          <p:nvPr/>
        </p:nvSpPr>
        <p:spPr>
          <a:xfrm>
            <a:off x="7269480" y="2286000"/>
            <a:ext cx="640080" cy="640080"/>
          </a:xfrm>
          <a:prstGeom prst="ellipse">
            <a:avLst/>
          </a:prstGeom>
          <a:solidFill>
            <a:srgbClr val="E7E9EB"/>
          </a:solidFill>
          <a:ln/>
        </p:spPr>
      </p:sp>
      <p:pic>
        <p:nvPicPr>
          <p:cNvPr id="25" name="Image 2" descr="/home/claude/ppt/icons/project_navy.png">    </p:cNvPr>
          <p:cNvPicPr>
            <a:picLocks noChangeAspect="1"/>
          </p:cNvPicPr>
          <p:nvPr/>
        </p:nvPicPr>
        <p:blipFill>
          <a:blip r:embed="rId3"/>
          <a:stretch>
            <a:fillRect/>
          </a:stretch>
        </p:blipFill>
        <p:spPr>
          <a:xfrm>
            <a:off x="7413498" y="2430018"/>
            <a:ext cx="352044" cy="352044"/>
          </a:xfrm>
          <a:prstGeom prst="rect">
            <a:avLst/>
          </a:prstGeom>
        </p:spPr>
      </p:pic>
      <p:sp>
        <p:nvSpPr>
          <p:cNvPr id="26" name="Text 21"/>
          <p:cNvSpPr txBox="1"/>
          <p:nvPr/>
        </p:nvSpPr>
        <p:spPr>
          <a:xfrm>
            <a:off x="6446520" y="3108960"/>
            <a:ext cx="2286000" cy="594360"/>
          </a:xfrm>
          <a:prstGeom prst="rect">
            <a:avLst/>
          </a:prstGeom>
          <a:noFill/>
          <a:ln/>
        </p:spPr>
        <p:txBody>
          <a:bodyPr wrap="square" lIns="0" tIns="0" rIns="0" bIns="0" rtlCol="0" anchor="t"/>
          <a:lstStyle/>
          <a:p>
            <a:pPr algn="ctr" indent="0" marL="0">
              <a:buNone/>
            </a:pPr>
            <a:r>
              <a:rPr lang="en-US" sz="1350" b="1" dirty="0">
                <a:solidFill>
                  <a:srgbClr val="1C2B39"/>
                </a:solidFill>
                <a:latin typeface="Calibri" pitchFamily="34" charset="0"/>
                <a:ea typeface="Calibri" pitchFamily="34" charset="-122"/>
                <a:cs typeface="Calibri" pitchFamily="34" charset="-120"/>
              </a:rPr>
              <a:t>Open-Ended Project</a:t>
            </a:r>
            <a:endParaRPr lang="en-US" sz="1350" dirty="0"/>
          </a:p>
        </p:txBody>
      </p:sp>
      <p:sp>
        <p:nvSpPr>
          <p:cNvPr id="27" name="Text 22"/>
          <p:cNvSpPr txBox="1"/>
          <p:nvPr/>
        </p:nvSpPr>
        <p:spPr>
          <a:xfrm>
            <a:off x="6446520" y="3749040"/>
            <a:ext cx="2286000" cy="777240"/>
          </a:xfrm>
          <a:prstGeom prst="rect">
            <a:avLst/>
          </a:prstGeom>
          <a:noFill/>
          <a:ln/>
        </p:spPr>
        <p:txBody>
          <a:bodyPr wrap="square" lIns="0" tIns="0" rIns="0" bIns="0" rtlCol="0" anchor="t"/>
          <a:lstStyle/>
          <a:p>
            <a:pPr algn="ctr" indent="0" marL="0">
              <a:buNone/>
            </a:pPr>
            <a:r>
              <a:rPr lang="en-US" sz="1050" dirty="0">
                <a:solidFill>
                  <a:srgbClr val="6B7280"/>
                </a:solidFill>
                <a:latin typeface="Calibri" pitchFamily="34" charset="0"/>
                <a:ea typeface="Calibri" pitchFamily="34" charset="-122"/>
                <a:cs typeface="Calibri" pitchFamily="34" charset="-120"/>
              </a:rPr>
              <a:t>Self-directed project applying prompt-engineering skills</a:t>
            </a:r>
            <a:endParaRPr lang="en-US" sz="1050" dirty="0"/>
          </a:p>
        </p:txBody>
      </p:sp>
      <p:sp>
        <p:nvSpPr>
          <p:cNvPr id="28" name="Shape 23"/>
          <p:cNvSpPr/>
          <p:nvPr/>
        </p:nvSpPr>
        <p:spPr>
          <a:xfrm>
            <a:off x="9144000" y="1600200"/>
            <a:ext cx="2651760" cy="3017520"/>
          </a:xfrm>
          <a:prstGeom prst="roundRect">
            <a:avLst>
              <a:gd name="adj" fmla="val 2759"/>
            </a:avLst>
          </a:prstGeom>
          <a:solidFill>
            <a:srgbClr val="FFFFFF"/>
          </a:solidFill>
          <a:ln/>
          <a:effectLst>
            <a:outerShdw sx="100000" sy="100000" kx="0" ky="0" algn="bl" rotWithShape="0" blurRad="76200" dist="25400" dir="5400000">
              <a:srgbClr val="000000">
                <a:alpha val="10000"/>
              </a:srgbClr>
            </a:outerShdw>
          </a:effectLst>
        </p:spPr>
      </p:sp>
      <p:sp>
        <p:nvSpPr>
          <p:cNvPr id="29" name="Shape 24"/>
          <p:cNvSpPr/>
          <p:nvPr/>
        </p:nvSpPr>
        <p:spPr>
          <a:xfrm>
            <a:off x="9144000" y="1600200"/>
            <a:ext cx="2651760" cy="457200"/>
          </a:xfrm>
          <a:prstGeom prst="roundRect">
            <a:avLst>
              <a:gd name="adj" fmla="val 16000"/>
            </a:avLst>
          </a:prstGeom>
          <a:solidFill>
            <a:srgbClr val="1C2B39"/>
          </a:solidFill>
          <a:ln/>
        </p:spPr>
      </p:sp>
      <p:sp>
        <p:nvSpPr>
          <p:cNvPr id="30" name="Shape 25"/>
          <p:cNvSpPr/>
          <p:nvPr/>
        </p:nvSpPr>
        <p:spPr>
          <a:xfrm>
            <a:off x="9144000" y="1828800"/>
            <a:ext cx="2651760" cy="228600"/>
          </a:xfrm>
          <a:prstGeom prst="rect">
            <a:avLst/>
          </a:prstGeom>
          <a:solidFill>
            <a:srgbClr val="1C2B39"/>
          </a:solidFill>
          <a:ln/>
        </p:spPr>
      </p:sp>
      <p:sp>
        <p:nvSpPr>
          <p:cNvPr id="31" name="Text 26"/>
          <p:cNvSpPr txBox="1"/>
          <p:nvPr/>
        </p:nvSpPr>
        <p:spPr>
          <a:xfrm>
            <a:off x="9144000" y="1600200"/>
            <a:ext cx="2651760" cy="457200"/>
          </a:xfrm>
          <a:prstGeom prst="rect">
            <a:avLst/>
          </a:prstGeom>
          <a:noFill/>
          <a:ln/>
        </p:spPr>
        <p:txBody>
          <a:bodyPr wrap="square" lIns="0" tIns="0" rIns="0" bIns="0" rtlCol="0" anchor="ctr"/>
          <a:lstStyle/>
          <a:p>
            <a:pPr algn="ctr" indent="0" marL="0">
              <a:buNone/>
            </a:pPr>
            <a:r>
              <a:rPr lang="en-US" sz="1200" b="1" spc="100" kern="0" dirty="0">
                <a:solidFill>
                  <a:srgbClr val="E8890C"/>
                </a:solidFill>
                <a:latin typeface="Calibri" pitchFamily="34" charset="0"/>
                <a:ea typeface="Calibri" pitchFamily="34" charset="-122"/>
                <a:cs typeface="Calibri" pitchFamily="34" charset="-120"/>
              </a:rPr>
              <a:t>FINAL</a:t>
            </a:r>
            <a:endParaRPr lang="en-US" sz="1200" dirty="0"/>
          </a:p>
        </p:txBody>
      </p:sp>
      <p:sp>
        <p:nvSpPr>
          <p:cNvPr id="32" name="Shape 27"/>
          <p:cNvSpPr/>
          <p:nvPr/>
        </p:nvSpPr>
        <p:spPr>
          <a:xfrm>
            <a:off x="10149840" y="2286000"/>
            <a:ext cx="640080" cy="640080"/>
          </a:xfrm>
          <a:prstGeom prst="ellipse">
            <a:avLst/>
          </a:prstGeom>
          <a:solidFill>
            <a:srgbClr val="E7E9EB"/>
          </a:solidFill>
          <a:ln/>
        </p:spPr>
      </p:sp>
      <p:pic>
        <p:nvPicPr>
          <p:cNvPr id="33" name="Image 3" descr="/home/claude/ppt/icons/badge_navy.png">    </p:cNvPr>
          <p:cNvPicPr>
            <a:picLocks noChangeAspect="1"/>
          </p:cNvPicPr>
          <p:nvPr/>
        </p:nvPicPr>
        <p:blipFill>
          <a:blip r:embed="rId4"/>
          <a:stretch>
            <a:fillRect/>
          </a:stretch>
        </p:blipFill>
        <p:spPr>
          <a:xfrm>
            <a:off x="10293858" y="2430018"/>
            <a:ext cx="352044" cy="352044"/>
          </a:xfrm>
          <a:prstGeom prst="rect">
            <a:avLst/>
          </a:prstGeom>
        </p:spPr>
      </p:pic>
      <p:sp>
        <p:nvSpPr>
          <p:cNvPr id="34" name="Text 28"/>
          <p:cNvSpPr txBox="1"/>
          <p:nvPr/>
        </p:nvSpPr>
        <p:spPr>
          <a:xfrm>
            <a:off x="9326880" y="3108960"/>
            <a:ext cx="2286000" cy="594360"/>
          </a:xfrm>
          <a:prstGeom prst="rect">
            <a:avLst/>
          </a:prstGeom>
          <a:noFill/>
          <a:ln/>
        </p:spPr>
        <p:txBody>
          <a:bodyPr wrap="square" lIns="0" tIns="0" rIns="0" bIns="0" rtlCol="0" anchor="t"/>
          <a:lstStyle/>
          <a:p>
            <a:pPr algn="ctr" indent="0" marL="0">
              <a:buNone/>
            </a:pPr>
            <a:r>
              <a:rPr lang="en-US" sz="1350" b="1" dirty="0">
                <a:solidFill>
                  <a:srgbClr val="1C2B39"/>
                </a:solidFill>
                <a:latin typeface="Calibri" pitchFamily="34" charset="0"/>
                <a:ea typeface="Calibri" pitchFamily="34" charset="-122"/>
                <a:cs typeface="Calibri" pitchFamily="34" charset="-120"/>
              </a:rPr>
              <a:t>Course Assessment</a:t>
            </a:r>
            <a:endParaRPr lang="en-US" sz="1350" dirty="0"/>
          </a:p>
        </p:txBody>
      </p:sp>
      <p:sp>
        <p:nvSpPr>
          <p:cNvPr id="35" name="Text 29"/>
          <p:cNvSpPr txBox="1"/>
          <p:nvPr/>
        </p:nvSpPr>
        <p:spPr>
          <a:xfrm>
            <a:off x="9326880" y="3749040"/>
            <a:ext cx="2286000" cy="777240"/>
          </a:xfrm>
          <a:prstGeom prst="rect">
            <a:avLst/>
          </a:prstGeom>
          <a:noFill/>
          <a:ln/>
        </p:spPr>
        <p:txBody>
          <a:bodyPr wrap="square" lIns="0" tIns="0" rIns="0" bIns="0" rtlCol="0" anchor="t"/>
          <a:lstStyle/>
          <a:p>
            <a:pPr algn="ctr" indent="0" marL="0">
              <a:buNone/>
            </a:pPr>
            <a:r>
              <a:rPr lang="en-US" sz="1050" dirty="0">
                <a:solidFill>
                  <a:srgbClr val="6B7280"/>
                </a:solidFill>
                <a:latin typeface="Calibri" pitchFamily="34" charset="0"/>
                <a:ea typeface="Calibri" pitchFamily="34" charset="-122"/>
                <a:cs typeface="Calibri" pitchFamily="34" charset="-120"/>
              </a:rPr>
              <a:t>Final assessment leading to the Certificate of Completion</a:t>
            </a:r>
            <a:endParaRPr lang="en-US" sz="1050" dirty="0"/>
          </a:p>
        </p:txBody>
      </p:sp>
      <p:sp>
        <p:nvSpPr>
          <p:cNvPr id="36" name="Text 30"/>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Introduction to Modern AI • Pushpendra Singh</a:t>
            </a:r>
            <a:endParaRPr lang="en-US" sz="1000" dirty="0"/>
          </a:p>
        </p:txBody>
      </p:sp>
      <p:sp>
        <p:nvSpPr>
          <p:cNvPr id="37" name="Text 31"/>
          <p:cNvSpPr txBox="1"/>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3F4"/>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E8890C"/>
                </a:solidFill>
                <a:latin typeface="Calibri" pitchFamily="34" charset="0"/>
                <a:ea typeface="Calibri" pitchFamily="34" charset="-122"/>
                <a:cs typeface="Calibri" pitchFamily="34" charset="-120"/>
              </a:rPr>
              <a:t>EXPECTED OUTCOMES</a:t>
            </a:r>
            <a:endParaRPr lang="en-US" sz="1200" dirty="0"/>
          </a:p>
        </p:txBody>
      </p:sp>
      <p:sp>
        <p:nvSpPr>
          <p:cNvPr id="3" name="Text 1"/>
          <p:cNvSpPr txBox="1"/>
          <p:nvPr/>
        </p:nvSpPr>
        <p:spPr>
          <a:xfrm>
            <a:off x="502920" y="777240"/>
            <a:ext cx="10972800" cy="548640"/>
          </a:xfrm>
          <a:prstGeom prst="rect">
            <a:avLst/>
          </a:prstGeom>
          <a:noFill/>
          <a:ln/>
        </p:spPr>
        <p:txBody>
          <a:bodyPr wrap="square" lIns="0" tIns="0" rIns="0" bIns="0" rtlCol="0" anchor="ctr"/>
          <a:lstStyle/>
          <a:p>
            <a:pPr indent="0" marL="0">
              <a:buNone/>
            </a:pPr>
            <a:r>
              <a:rPr lang="en-US" sz="2800" b="1" dirty="0">
                <a:solidFill>
                  <a:srgbClr val="1C2B39"/>
                </a:solidFill>
                <a:latin typeface="Cambria" pitchFamily="34" charset="0"/>
                <a:ea typeface="Cambria" pitchFamily="34" charset="-122"/>
                <a:cs typeface="Cambria" pitchFamily="34" charset="-120"/>
              </a:rPr>
              <a:t>Skills &amp; Capabilities Gained</a:t>
            </a:r>
            <a:endParaRPr lang="en-US" sz="2800" dirty="0"/>
          </a:p>
        </p:txBody>
      </p:sp>
      <p:sp>
        <p:nvSpPr>
          <p:cNvPr id="4" name="Shape 2"/>
          <p:cNvSpPr/>
          <p:nvPr/>
        </p:nvSpPr>
        <p:spPr>
          <a:xfrm>
            <a:off x="502920" y="1691640"/>
            <a:ext cx="365760" cy="365760"/>
          </a:xfrm>
          <a:prstGeom prst="ellipse">
            <a:avLst/>
          </a:prstGeom>
          <a:solidFill>
            <a:srgbClr val="E8890C"/>
          </a:solidFill>
          <a:ln/>
        </p:spPr>
      </p:sp>
      <p:pic>
        <p:nvPicPr>
          <p:cNvPr id="5" name="Image 0" descr="/home/claude/ppt/icons/check.png">    </p:cNvPr>
          <p:cNvPicPr>
            <a:picLocks noChangeAspect="1"/>
          </p:cNvPicPr>
          <p:nvPr/>
        </p:nvPicPr>
        <p:blipFill>
          <a:blip r:embed="rId1"/>
          <a:stretch>
            <a:fillRect/>
          </a:stretch>
        </p:blipFill>
        <p:spPr>
          <a:xfrm>
            <a:off x="585216" y="1773936"/>
            <a:ext cx="201168" cy="201168"/>
          </a:xfrm>
          <a:prstGeom prst="rect">
            <a:avLst/>
          </a:prstGeom>
        </p:spPr>
      </p:pic>
      <p:sp>
        <p:nvSpPr>
          <p:cNvPr id="6" name="Text 3"/>
          <p:cNvSpPr txBox="1"/>
          <p:nvPr/>
        </p:nvSpPr>
        <p:spPr>
          <a:xfrm>
            <a:off x="1051560" y="1636776"/>
            <a:ext cx="10424160" cy="502920"/>
          </a:xfrm>
          <a:prstGeom prst="rect">
            <a:avLst/>
          </a:prstGeom>
          <a:noFill/>
          <a:ln/>
        </p:spPr>
        <p:txBody>
          <a:bodyPr wrap="square" lIns="0" tIns="0" rIns="0" bIns="0" rtlCol="0" anchor="ctr"/>
          <a:lstStyle/>
          <a:p>
            <a:pPr indent="0" marL="0">
              <a:buNone/>
            </a:pPr>
            <a:r>
              <a:rPr lang="en-US" sz="1450" dirty="0">
                <a:solidFill>
                  <a:srgbClr val="3A4653"/>
                </a:solidFill>
                <a:latin typeface="Calibri" pitchFamily="34" charset="0"/>
                <a:ea typeface="Calibri" pitchFamily="34" charset="-122"/>
                <a:cs typeface="Calibri" pitchFamily="34" charset="-120"/>
              </a:rPr>
              <a:t>Ability to explain, in practical terms, how modern AI systems work</a:t>
            </a:r>
            <a:endParaRPr lang="en-US" sz="1450" dirty="0"/>
          </a:p>
        </p:txBody>
      </p:sp>
      <p:sp>
        <p:nvSpPr>
          <p:cNvPr id="7" name="Shape 4"/>
          <p:cNvSpPr/>
          <p:nvPr/>
        </p:nvSpPr>
        <p:spPr>
          <a:xfrm>
            <a:off x="502920" y="2404872"/>
            <a:ext cx="365760" cy="365760"/>
          </a:xfrm>
          <a:prstGeom prst="ellipse">
            <a:avLst/>
          </a:prstGeom>
          <a:solidFill>
            <a:srgbClr val="E8890C"/>
          </a:solidFill>
          <a:ln/>
        </p:spPr>
      </p:sp>
      <p:pic>
        <p:nvPicPr>
          <p:cNvPr id="8" name="Image 1" descr="/home/claude/ppt/icons/check.png">    </p:cNvPr>
          <p:cNvPicPr>
            <a:picLocks noChangeAspect="1"/>
          </p:cNvPicPr>
          <p:nvPr/>
        </p:nvPicPr>
        <p:blipFill>
          <a:blip r:embed="rId2"/>
          <a:stretch>
            <a:fillRect/>
          </a:stretch>
        </p:blipFill>
        <p:spPr>
          <a:xfrm>
            <a:off x="585216" y="2487168"/>
            <a:ext cx="201168" cy="201168"/>
          </a:xfrm>
          <a:prstGeom prst="rect">
            <a:avLst/>
          </a:prstGeom>
        </p:spPr>
      </p:pic>
      <p:sp>
        <p:nvSpPr>
          <p:cNvPr id="9" name="Text 5"/>
          <p:cNvSpPr txBox="1"/>
          <p:nvPr/>
        </p:nvSpPr>
        <p:spPr>
          <a:xfrm>
            <a:off x="1051560" y="2350008"/>
            <a:ext cx="10424160" cy="502920"/>
          </a:xfrm>
          <a:prstGeom prst="rect">
            <a:avLst/>
          </a:prstGeom>
          <a:noFill/>
          <a:ln/>
        </p:spPr>
        <p:txBody>
          <a:bodyPr wrap="square" lIns="0" tIns="0" rIns="0" bIns="0" rtlCol="0" anchor="ctr"/>
          <a:lstStyle/>
          <a:p>
            <a:pPr indent="0" marL="0">
              <a:buNone/>
            </a:pPr>
            <a:r>
              <a:rPr lang="en-US" sz="1450" dirty="0">
                <a:solidFill>
                  <a:srgbClr val="3A4653"/>
                </a:solidFill>
                <a:latin typeface="Calibri" pitchFamily="34" charset="0"/>
                <a:ea typeface="Calibri" pitchFamily="34" charset="-122"/>
                <a:cs typeface="Calibri" pitchFamily="34" charset="-120"/>
              </a:rPr>
              <a:t>Hands-on familiarity with computer-vision and machine-translation applications</a:t>
            </a:r>
            <a:endParaRPr lang="en-US" sz="1450" dirty="0"/>
          </a:p>
        </p:txBody>
      </p:sp>
      <p:sp>
        <p:nvSpPr>
          <p:cNvPr id="10" name="Shape 6"/>
          <p:cNvSpPr/>
          <p:nvPr/>
        </p:nvSpPr>
        <p:spPr>
          <a:xfrm>
            <a:off x="502920" y="3118104"/>
            <a:ext cx="365760" cy="365760"/>
          </a:xfrm>
          <a:prstGeom prst="ellipse">
            <a:avLst/>
          </a:prstGeom>
          <a:solidFill>
            <a:srgbClr val="E8890C"/>
          </a:solidFill>
          <a:ln/>
        </p:spPr>
      </p:sp>
      <p:pic>
        <p:nvPicPr>
          <p:cNvPr id="11" name="Image 2" descr="/home/claude/ppt/icons/check.png">    </p:cNvPr>
          <p:cNvPicPr>
            <a:picLocks noChangeAspect="1"/>
          </p:cNvPicPr>
          <p:nvPr/>
        </p:nvPicPr>
        <p:blipFill>
          <a:blip r:embed="rId3"/>
          <a:stretch>
            <a:fillRect/>
          </a:stretch>
        </p:blipFill>
        <p:spPr>
          <a:xfrm>
            <a:off x="585216" y="3200400"/>
            <a:ext cx="201168" cy="201168"/>
          </a:xfrm>
          <a:prstGeom prst="rect">
            <a:avLst/>
          </a:prstGeom>
        </p:spPr>
      </p:pic>
      <p:sp>
        <p:nvSpPr>
          <p:cNvPr id="12" name="Text 7"/>
          <p:cNvSpPr txBox="1"/>
          <p:nvPr/>
        </p:nvSpPr>
        <p:spPr>
          <a:xfrm>
            <a:off x="1051560" y="3063240"/>
            <a:ext cx="10424160" cy="502920"/>
          </a:xfrm>
          <a:prstGeom prst="rect">
            <a:avLst/>
          </a:prstGeom>
          <a:noFill/>
          <a:ln/>
        </p:spPr>
        <p:txBody>
          <a:bodyPr wrap="square" lIns="0" tIns="0" rIns="0" bIns="0" rtlCol="0" anchor="ctr"/>
          <a:lstStyle/>
          <a:p>
            <a:pPr indent="0" marL="0">
              <a:buNone/>
            </a:pPr>
            <a:r>
              <a:rPr lang="en-US" sz="1450" dirty="0">
                <a:solidFill>
                  <a:srgbClr val="3A4653"/>
                </a:solidFill>
                <a:latin typeface="Calibri" pitchFamily="34" charset="0"/>
                <a:ea typeface="Calibri" pitchFamily="34" charset="-122"/>
                <a:cs typeface="Calibri" pitchFamily="34" charset="-120"/>
              </a:rPr>
              <a:t>Practical skill in writing clear, effective prompts for AI chatbots</a:t>
            </a:r>
            <a:endParaRPr lang="en-US" sz="1450" dirty="0"/>
          </a:p>
        </p:txBody>
      </p:sp>
      <p:sp>
        <p:nvSpPr>
          <p:cNvPr id="13" name="Shape 8"/>
          <p:cNvSpPr/>
          <p:nvPr/>
        </p:nvSpPr>
        <p:spPr>
          <a:xfrm>
            <a:off x="502920" y="3831336"/>
            <a:ext cx="365760" cy="365760"/>
          </a:xfrm>
          <a:prstGeom prst="ellipse">
            <a:avLst/>
          </a:prstGeom>
          <a:solidFill>
            <a:srgbClr val="E8890C"/>
          </a:solidFill>
          <a:ln/>
        </p:spPr>
      </p:sp>
      <p:pic>
        <p:nvPicPr>
          <p:cNvPr id="14" name="Image 3" descr="/home/claude/ppt/icons/check.png">    </p:cNvPr>
          <p:cNvPicPr>
            <a:picLocks noChangeAspect="1"/>
          </p:cNvPicPr>
          <p:nvPr/>
        </p:nvPicPr>
        <p:blipFill>
          <a:blip r:embed="rId4"/>
          <a:stretch>
            <a:fillRect/>
          </a:stretch>
        </p:blipFill>
        <p:spPr>
          <a:xfrm>
            <a:off x="585216" y="3913632"/>
            <a:ext cx="201168" cy="201168"/>
          </a:xfrm>
          <a:prstGeom prst="rect">
            <a:avLst/>
          </a:prstGeom>
        </p:spPr>
      </p:pic>
      <p:sp>
        <p:nvSpPr>
          <p:cNvPr id="15" name="Text 9"/>
          <p:cNvSpPr txBox="1"/>
          <p:nvPr/>
        </p:nvSpPr>
        <p:spPr>
          <a:xfrm>
            <a:off x="1051560" y="3776472"/>
            <a:ext cx="10424160" cy="502920"/>
          </a:xfrm>
          <a:prstGeom prst="rect">
            <a:avLst/>
          </a:prstGeom>
          <a:noFill/>
          <a:ln/>
        </p:spPr>
        <p:txBody>
          <a:bodyPr wrap="square" lIns="0" tIns="0" rIns="0" bIns="0" rtlCol="0" anchor="ctr"/>
          <a:lstStyle/>
          <a:p>
            <a:pPr indent="0" marL="0">
              <a:buNone/>
            </a:pPr>
            <a:r>
              <a:rPr lang="en-US" sz="1450" dirty="0">
                <a:solidFill>
                  <a:srgbClr val="3A4653"/>
                </a:solidFill>
                <a:latin typeface="Calibri" pitchFamily="34" charset="0"/>
                <a:ea typeface="Calibri" pitchFamily="34" charset="-122"/>
                <a:cs typeface="Calibri" pitchFamily="34" charset="-120"/>
              </a:rPr>
              <a:t>Working experience with multiple leading AI tools, including ChatGPT, Gemini, and Claude</a:t>
            </a:r>
            <a:endParaRPr lang="en-US" sz="1450" dirty="0"/>
          </a:p>
        </p:txBody>
      </p:sp>
      <p:sp>
        <p:nvSpPr>
          <p:cNvPr id="16" name="Shape 10"/>
          <p:cNvSpPr/>
          <p:nvPr/>
        </p:nvSpPr>
        <p:spPr>
          <a:xfrm>
            <a:off x="502920" y="4544568"/>
            <a:ext cx="365760" cy="365760"/>
          </a:xfrm>
          <a:prstGeom prst="ellipse">
            <a:avLst/>
          </a:prstGeom>
          <a:solidFill>
            <a:srgbClr val="E8890C"/>
          </a:solidFill>
          <a:ln/>
        </p:spPr>
      </p:sp>
      <p:pic>
        <p:nvPicPr>
          <p:cNvPr id="17" name="Image 4" descr="/home/claude/ppt/icons/check.png">    </p:cNvPr>
          <p:cNvPicPr>
            <a:picLocks noChangeAspect="1"/>
          </p:cNvPicPr>
          <p:nvPr/>
        </p:nvPicPr>
        <p:blipFill>
          <a:blip r:embed="rId5"/>
          <a:stretch>
            <a:fillRect/>
          </a:stretch>
        </p:blipFill>
        <p:spPr>
          <a:xfrm>
            <a:off x="585216" y="4626864"/>
            <a:ext cx="201168" cy="201168"/>
          </a:xfrm>
          <a:prstGeom prst="rect">
            <a:avLst/>
          </a:prstGeom>
        </p:spPr>
      </p:pic>
      <p:sp>
        <p:nvSpPr>
          <p:cNvPr id="18" name="Text 11"/>
          <p:cNvSpPr txBox="1"/>
          <p:nvPr/>
        </p:nvSpPr>
        <p:spPr>
          <a:xfrm>
            <a:off x="1051560" y="4489704"/>
            <a:ext cx="10424160" cy="502920"/>
          </a:xfrm>
          <a:prstGeom prst="rect">
            <a:avLst/>
          </a:prstGeom>
          <a:noFill/>
          <a:ln/>
        </p:spPr>
        <p:txBody>
          <a:bodyPr wrap="square" lIns="0" tIns="0" rIns="0" bIns="0" rtlCol="0" anchor="ctr"/>
          <a:lstStyle/>
          <a:p>
            <a:pPr indent="0" marL="0">
              <a:buNone/>
            </a:pPr>
            <a:r>
              <a:rPr lang="en-US" sz="1450" dirty="0">
                <a:solidFill>
                  <a:srgbClr val="3A4653"/>
                </a:solidFill>
                <a:latin typeface="Calibri" pitchFamily="34" charset="0"/>
                <a:ea typeface="Calibri" pitchFamily="34" charset="-122"/>
                <a:cs typeface="Calibri" pitchFamily="34" charset="-120"/>
              </a:rPr>
              <a:t>A completed open-ended project demonstrating applied prompt-engineering skills</a:t>
            </a:r>
            <a:endParaRPr lang="en-US" sz="1450" dirty="0"/>
          </a:p>
        </p:txBody>
      </p:sp>
      <p:sp>
        <p:nvSpPr>
          <p:cNvPr id="19" name="Shape 12"/>
          <p:cNvSpPr/>
          <p:nvPr/>
        </p:nvSpPr>
        <p:spPr>
          <a:xfrm>
            <a:off x="502920" y="5257800"/>
            <a:ext cx="365760" cy="365760"/>
          </a:xfrm>
          <a:prstGeom prst="ellipse">
            <a:avLst/>
          </a:prstGeom>
          <a:solidFill>
            <a:srgbClr val="E8890C"/>
          </a:solidFill>
          <a:ln/>
        </p:spPr>
      </p:sp>
      <p:pic>
        <p:nvPicPr>
          <p:cNvPr id="20" name="Image 5" descr="/home/claude/ppt/icons/check.png">    </p:cNvPr>
          <p:cNvPicPr>
            <a:picLocks noChangeAspect="1"/>
          </p:cNvPicPr>
          <p:nvPr/>
        </p:nvPicPr>
        <p:blipFill>
          <a:blip r:embed="rId6"/>
          <a:stretch>
            <a:fillRect/>
          </a:stretch>
        </p:blipFill>
        <p:spPr>
          <a:xfrm>
            <a:off x="585216" y="5340096"/>
            <a:ext cx="201168" cy="201168"/>
          </a:xfrm>
          <a:prstGeom prst="rect">
            <a:avLst/>
          </a:prstGeom>
        </p:spPr>
      </p:pic>
      <p:sp>
        <p:nvSpPr>
          <p:cNvPr id="21" name="Text 13"/>
          <p:cNvSpPr txBox="1"/>
          <p:nvPr/>
        </p:nvSpPr>
        <p:spPr>
          <a:xfrm>
            <a:off x="1051560" y="5202936"/>
            <a:ext cx="10424160" cy="502920"/>
          </a:xfrm>
          <a:prstGeom prst="rect">
            <a:avLst/>
          </a:prstGeom>
          <a:noFill/>
          <a:ln/>
        </p:spPr>
        <p:txBody>
          <a:bodyPr wrap="square" lIns="0" tIns="0" rIns="0" bIns="0" rtlCol="0" anchor="ctr"/>
          <a:lstStyle/>
          <a:p>
            <a:pPr indent="0" marL="0">
              <a:buNone/>
            </a:pPr>
            <a:r>
              <a:rPr lang="en-US" sz="1450" dirty="0">
                <a:solidFill>
                  <a:srgbClr val="3A4653"/>
                </a:solidFill>
                <a:latin typeface="Calibri" pitchFamily="34" charset="0"/>
                <a:ea typeface="Calibri" pitchFamily="34" charset="-122"/>
                <a:cs typeface="Calibri" pitchFamily="34" charset="-120"/>
              </a:rPr>
              <a:t>Successful completion of the course assessment and award of the Certificate of Completion</a:t>
            </a:r>
            <a:endParaRPr lang="en-US" sz="1450" dirty="0"/>
          </a:p>
        </p:txBody>
      </p:sp>
      <p:sp>
        <p:nvSpPr>
          <p:cNvPr id="22" name="Text 14"/>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Introduction to Modern AI • Pushpendra Singh</a:t>
            </a:r>
            <a:endParaRPr lang="en-US" sz="1000" dirty="0"/>
          </a:p>
        </p:txBody>
      </p:sp>
      <p:sp>
        <p:nvSpPr>
          <p:cNvPr id="23" name="Text 15"/>
          <p:cNvSpPr txBox="1"/>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C2B39"/>
        </a:solidFill>
      </p:bgPr>
    </p:bg>
    <p:spTree>
      <p:nvGrpSpPr>
        <p:cNvPr id="1" name=""/>
        <p:cNvGrpSpPr/>
        <p:nvPr/>
      </p:nvGrpSpPr>
      <p:grpSpPr>
        <a:xfrm>
          <a:off x="0" y="0"/>
          <a:ext cx="0" cy="0"/>
          <a:chOff x="0" y="0"/>
          <a:chExt cx="0" cy="0"/>
        </a:xfrm>
      </p:grpSpPr>
      <p:sp>
        <p:nvSpPr>
          <p:cNvPr id="2" name="Shape 0"/>
          <p:cNvSpPr/>
          <p:nvPr/>
        </p:nvSpPr>
        <p:spPr>
          <a:xfrm>
            <a:off x="-1645920" y="-1371600"/>
            <a:ext cx="3291840" cy="3291840"/>
          </a:xfrm>
          <a:prstGeom prst="ellipse">
            <a:avLst/>
          </a:prstGeom>
          <a:solidFill>
            <a:srgbClr val="141F29"/>
          </a:solidFill>
          <a:ln/>
        </p:spPr>
      </p:sp>
      <p:sp>
        <p:nvSpPr>
          <p:cNvPr id="3" name="Text 1"/>
          <p:cNvSpPr txBox="1"/>
          <p:nvPr/>
        </p:nvSpPr>
        <p:spPr>
          <a:xfrm>
            <a:off x="548640" y="685800"/>
            <a:ext cx="7315200" cy="320040"/>
          </a:xfrm>
          <a:prstGeom prst="rect">
            <a:avLst/>
          </a:prstGeom>
          <a:noFill/>
          <a:ln/>
        </p:spPr>
        <p:txBody>
          <a:bodyPr wrap="square" lIns="0" tIns="0" rIns="0" bIns="0" rtlCol="0" anchor="ctr"/>
          <a:lstStyle/>
          <a:p>
            <a:pPr indent="0" marL="0">
              <a:buNone/>
            </a:pPr>
            <a:r>
              <a:rPr lang="en-US" sz="1200" b="1" spc="200" kern="0" dirty="0">
                <a:solidFill>
                  <a:srgbClr val="E8890C"/>
                </a:solidFill>
                <a:latin typeface="Calibri" pitchFamily="34" charset="0"/>
                <a:ea typeface="Calibri" pitchFamily="34" charset="-122"/>
                <a:cs typeface="Calibri" pitchFamily="34" charset="-120"/>
              </a:rPr>
              <a:t>CERTIFICATION</a:t>
            </a:r>
            <a:endParaRPr lang="en-US" sz="1200" dirty="0"/>
          </a:p>
        </p:txBody>
      </p:sp>
      <p:sp>
        <p:nvSpPr>
          <p:cNvPr id="4" name="Text 2"/>
          <p:cNvSpPr txBox="1"/>
          <p:nvPr/>
        </p:nvSpPr>
        <p:spPr>
          <a:xfrm>
            <a:off x="502920" y="1051560"/>
            <a:ext cx="54864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Successfully Completed</a:t>
            </a:r>
            <a:endParaRPr lang="en-US" sz="2800" dirty="0"/>
          </a:p>
        </p:txBody>
      </p:sp>
      <p:sp>
        <p:nvSpPr>
          <p:cNvPr id="5" name="Shape 3"/>
          <p:cNvSpPr/>
          <p:nvPr/>
        </p:nvSpPr>
        <p:spPr>
          <a:xfrm>
            <a:off x="502920" y="1965960"/>
            <a:ext cx="457200" cy="457200"/>
          </a:xfrm>
          <a:prstGeom prst="ellipse">
            <a:avLst/>
          </a:prstGeom>
          <a:solidFill>
            <a:srgbClr val="E8890C"/>
          </a:solidFill>
          <a:ln/>
        </p:spPr>
      </p:sp>
      <p:pic>
        <p:nvPicPr>
          <p:cNvPr id="6" name="Image 0" descr="/home/claude/ppt/icons/badge.png">    </p:cNvPr>
          <p:cNvPicPr>
            <a:picLocks noChangeAspect="1"/>
          </p:cNvPicPr>
          <p:nvPr/>
        </p:nvPicPr>
        <p:blipFill>
          <a:blip r:embed="rId1"/>
          <a:stretch>
            <a:fillRect/>
          </a:stretch>
        </p:blipFill>
        <p:spPr>
          <a:xfrm>
            <a:off x="605790" y="2068830"/>
            <a:ext cx="251460" cy="251460"/>
          </a:xfrm>
          <a:prstGeom prst="rect">
            <a:avLst/>
          </a:prstGeom>
        </p:spPr>
      </p:pic>
      <p:sp>
        <p:nvSpPr>
          <p:cNvPr id="7" name="Text 4"/>
          <p:cNvSpPr txBox="1"/>
          <p:nvPr/>
        </p:nvSpPr>
        <p:spPr>
          <a:xfrm>
            <a:off x="1143000" y="1947672"/>
            <a:ext cx="5029200" cy="256032"/>
          </a:xfrm>
          <a:prstGeom prst="rect">
            <a:avLst/>
          </a:prstGeom>
          <a:noFill/>
          <a:ln/>
        </p:spPr>
        <p:txBody>
          <a:bodyPr wrap="square" lIns="0" tIns="0" rIns="0" bIns="0" rtlCol="0" anchor="ctr"/>
          <a:lstStyle/>
          <a:p>
            <a:pPr indent="0" marL="0">
              <a:buNone/>
            </a:pPr>
            <a:r>
              <a:rPr lang="en-US" sz="1100" b="1" spc="100" kern="0" dirty="0">
                <a:solidFill>
                  <a:srgbClr val="F0B15C"/>
                </a:solidFill>
                <a:latin typeface="Calibri" pitchFamily="34" charset="0"/>
                <a:ea typeface="Calibri" pitchFamily="34" charset="-122"/>
                <a:cs typeface="Calibri" pitchFamily="34" charset="-120"/>
              </a:rPr>
              <a:t>ISSUED BY</a:t>
            </a:r>
            <a:endParaRPr lang="en-US" sz="1100" dirty="0"/>
          </a:p>
        </p:txBody>
      </p:sp>
      <p:sp>
        <p:nvSpPr>
          <p:cNvPr id="8" name="Text 5"/>
          <p:cNvSpPr txBox="1"/>
          <p:nvPr/>
        </p:nvSpPr>
        <p:spPr>
          <a:xfrm>
            <a:off x="1143000" y="2185416"/>
            <a:ext cx="50292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Cisco Networking Academy</a:t>
            </a:r>
            <a:endParaRPr lang="en-US" sz="1400" dirty="0"/>
          </a:p>
        </p:txBody>
      </p:sp>
      <p:sp>
        <p:nvSpPr>
          <p:cNvPr id="9" name="Shape 6"/>
          <p:cNvSpPr/>
          <p:nvPr/>
        </p:nvSpPr>
        <p:spPr>
          <a:xfrm>
            <a:off x="502920" y="2807208"/>
            <a:ext cx="457200" cy="457200"/>
          </a:xfrm>
          <a:prstGeom prst="ellipse">
            <a:avLst/>
          </a:prstGeom>
          <a:solidFill>
            <a:srgbClr val="E8890C"/>
          </a:solidFill>
          <a:ln/>
        </p:spPr>
      </p:sp>
      <p:pic>
        <p:nvPicPr>
          <p:cNvPr id="10" name="Image 1" descr="/home/claude/ppt/icons/idcard.png">    </p:cNvPr>
          <p:cNvPicPr>
            <a:picLocks noChangeAspect="1"/>
          </p:cNvPicPr>
          <p:nvPr/>
        </p:nvPicPr>
        <p:blipFill>
          <a:blip r:embed="rId2"/>
          <a:stretch>
            <a:fillRect/>
          </a:stretch>
        </p:blipFill>
        <p:spPr>
          <a:xfrm>
            <a:off x="605790" y="2910078"/>
            <a:ext cx="251460" cy="251460"/>
          </a:xfrm>
          <a:prstGeom prst="rect">
            <a:avLst/>
          </a:prstGeom>
        </p:spPr>
      </p:pic>
      <p:sp>
        <p:nvSpPr>
          <p:cNvPr id="11" name="Text 7"/>
          <p:cNvSpPr txBox="1"/>
          <p:nvPr/>
        </p:nvSpPr>
        <p:spPr>
          <a:xfrm>
            <a:off x="1143000" y="2788920"/>
            <a:ext cx="5029200" cy="256032"/>
          </a:xfrm>
          <a:prstGeom prst="rect">
            <a:avLst/>
          </a:prstGeom>
          <a:noFill/>
          <a:ln/>
        </p:spPr>
        <p:txBody>
          <a:bodyPr wrap="square" lIns="0" tIns="0" rIns="0" bIns="0" rtlCol="0" anchor="ctr"/>
          <a:lstStyle/>
          <a:p>
            <a:pPr indent="0" marL="0">
              <a:buNone/>
            </a:pPr>
            <a:r>
              <a:rPr lang="en-US" sz="1100" b="1" spc="100" kern="0" dirty="0">
                <a:solidFill>
                  <a:srgbClr val="F0B15C"/>
                </a:solidFill>
                <a:latin typeface="Calibri" pitchFamily="34" charset="0"/>
                <a:ea typeface="Calibri" pitchFamily="34" charset="-122"/>
                <a:cs typeface="Calibri" pitchFamily="34" charset="-120"/>
              </a:rPr>
              <a:t>CERTIFICATE ID</a:t>
            </a:r>
            <a:endParaRPr lang="en-US" sz="1100" dirty="0"/>
          </a:p>
        </p:txBody>
      </p:sp>
      <p:sp>
        <p:nvSpPr>
          <p:cNvPr id="12" name="Text 8"/>
          <p:cNvSpPr txBox="1"/>
          <p:nvPr/>
        </p:nvSpPr>
        <p:spPr>
          <a:xfrm>
            <a:off x="1143000" y="3026664"/>
            <a:ext cx="50292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32aaefc8-1ebf-4eeb-87a4-65b5cf1cc4a5</a:t>
            </a:r>
            <a:endParaRPr lang="en-US" sz="1400" dirty="0"/>
          </a:p>
        </p:txBody>
      </p:sp>
      <p:sp>
        <p:nvSpPr>
          <p:cNvPr id="13" name="Shape 9"/>
          <p:cNvSpPr/>
          <p:nvPr/>
        </p:nvSpPr>
        <p:spPr>
          <a:xfrm>
            <a:off x="502920" y="3648456"/>
            <a:ext cx="457200" cy="457200"/>
          </a:xfrm>
          <a:prstGeom prst="ellipse">
            <a:avLst/>
          </a:prstGeom>
          <a:solidFill>
            <a:srgbClr val="E8890C"/>
          </a:solidFill>
          <a:ln/>
        </p:spPr>
      </p:sp>
      <p:pic>
        <p:nvPicPr>
          <p:cNvPr id="14" name="Image 2" descr="/home/claude/ppt/icons/calendar.png">    </p:cNvPr>
          <p:cNvPicPr>
            <a:picLocks noChangeAspect="1"/>
          </p:cNvPicPr>
          <p:nvPr/>
        </p:nvPicPr>
        <p:blipFill>
          <a:blip r:embed="rId3"/>
          <a:stretch>
            <a:fillRect/>
          </a:stretch>
        </p:blipFill>
        <p:spPr>
          <a:xfrm>
            <a:off x="605790" y="3751326"/>
            <a:ext cx="251460" cy="251460"/>
          </a:xfrm>
          <a:prstGeom prst="rect">
            <a:avLst/>
          </a:prstGeom>
        </p:spPr>
      </p:pic>
      <p:sp>
        <p:nvSpPr>
          <p:cNvPr id="15" name="Text 10"/>
          <p:cNvSpPr txBox="1"/>
          <p:nvPr/>
        </p:nvSpPr>
        <p:spPr>
          <a:xfrm>
            <a:off x="1143000" y="3630168"/>
            <a:ext cx="5029200" cy="256032"/>
          </a:xfrm>
          <a:prstGeom prst="rect">
            <a:avLst/>
          </a:prstGeom>
          <a:noFill/>
          <a:ln/>
        </p:spPr>
        <p:txBody>
          <a:bodyPr wrap="square" lIns="0" tIns="0" rIns="0" bIns="0" rtlCol="0" anchor="ctr"/>
          <a:lstStyle/>
          <a:p>
            <a:pPr indent="0" marL="0">
              <a:buNone/>
            </a:pPr>
            <a:r>
              <a:rPr lang="en-US" sz="1100" b="1" spc="100" kern="0" dirty="0">
                <a:solidFill>
                  <a:srgbClr val="F0B15C"/>
                </a:solidFill>
                <a:latin typeface="Calibri" pitchFamily="34" charset="0"/>
                <a:ea typeface="Calibri" pitchFamily="34" charset="-122"/>
                <a:cs typeface="Calibri" pitchFamily="34" charset="-120"/>
              </a:rPr>
              <a:t>COMPLETION DATE</a:t>
            </a:r>
            <a:endParaRPr lang="en-US" sz="1100" dirty="0"/>
          </a:p>
        </p:txBody>
      </p:sp>
      <p:sp>
        <p:nvSpPr>
          <p:cNvPr id="16" name="Text 11"/>
          <p:cNvSpPr txBox="1"/>
          <p:nvPr/>
        </p:nvSpPr>
        <p:spPr>
          <a:xfrm>
            <a:off x="1143000" y="3867912"/>
            <a:ext cx="50292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18 June 2026</a:t>
            </a:r>
            <a:endParaRPr lang="en-US" sz="1400" dirty="0"/>
          </a:p>
        </p:txBody>
      </p:sp>
      <p:sp>
        <p:nvSpPr>
          <p:cNvPr id="17" name="Shape 12"/>
          <p:cNvSpPr/>
          <p:nvPr/>
        </p:nvSpPr>
        <p:spPr>
          <a:xfrm>
            <a:off x="502920" y="4489704"/>
            <a:ext cx="457200" cy="457200"/>
          </a:xfrm>
          <a:prstGeom prst="ellipse">
            <a:avLst/>
          </a:prstGeom>
          <a:solidFill>
            <a:srgbClr val="E8890C"/>
          </a:solidFill>
          <a:ln/>
        </p:spPr>
      </p:sp>
      <p:pic>
        <p:nvPicPr>
          <p:cNvPr id="18" name="Image 3" descr="/home/claude/ppt/icons/gradcap.png">    </p:cNvPr>
          <p:cNvPicPr>
            <a:picLocks noChangeAspect="1"/>
          </p:cNvPicPr>
          <p:nvPr/>
        </p:nvPicPr>
        <p:blipFill>
          <a:blip r:embed="rId4"/>
          <a:stretch>
            <a:fillRect/>
          </a:stretch>
        </p:blipFill>
        <p:spPr>
          <a:xfrm>
            <a:off x="605790" y="4592574"/>
            <a:ext cx="251460" cy="251460"/>
          </a:xfrm>
          <a:prstGeom prst="rect">
            <a:avLst/>
          </a:prstGeom>
        </p:spPr>
      </p:pic>
      <p:sp>
        <p:nvSpPr>
          <p:cNvPr id="19" name="Text 13"/>
          <p:cNvSpPr txBox="1"/>
          <p:nvPr/>
        </p:nvSpPr>
        <p:spPr>
          <a:xfrm>
            <a:off x="1143000" y="4471416"/>
            <a:ext cx="5029200" cy="256032"/>
          </a:xfrm>
          <a:prstGeom prst="rect">
            <a:avLst/>
          </a:prstGeom>
          <a:noFill/>
          <a:ln/>
        </p:spPr>
        <p:txBody>
          <a:bodyPr wrap="square" lIns="0" tIns="0" rIns="0" bIns="0" rtlCol="0" anchor="ctr"/>
          <a:lstStyle/>
          <a:p>
            <a:pPr indent="0" marL="0">
              <a:buNone/>
            </a:pPr>
            <a:r>
              <a:rPr lang="en-US" sz="1100" b="1" spc="100" kern="0" dirty="0">
                <a:solidFill>
                  <a:srgbClr val="F0B15C"/>
                </a:solidFill>
                <a:latin typeface="Calibri" pitchFamily="34" charset="0"/>
                <a:ea typeface="Calibri" pitchFamily="34" charset="-122"/>
                <a:cs typeface="Calibri" pitchFamily="34" charset="-120"/>
              </a:rPr>
              <a:t>COURSE</a:t>
            </a:r>
            <a:endParaRPr lang="en-US" sz="1100" dirty="0"/>
          </a:p>
        </p:txBody>
      </p:sp>
      <p:sp>
        <p:nvSpPr>
          <p:cNvPr id="20" name="Text 14"/>
          <p:cNvSpPr txBox="1"/>
          <p:nvPr/>
        </p:nvSpPr>
        <p:spPr>
          <a:xfrm>
            <a:off x="1143000" y="4709160"/>
            <a:ext cx="50292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Introduction to Modern AI</a:t>
            </a:r>
            <a:endParaRPr lang="en-US" sz="1400" dirty="0"/>
          </a:p>
        </p:txBody>
      </p:sp>
      <p:sp>
        <p:nvSpPr>
          <p:cNvPr id="21" name="Shape 15"/>
          <p:cNvSpPr/>
          <p:nvPr/>
        </p:nvSpPr>
        <p:spPr>
          <a:xfrm>
            <a:off x="5650992" y="1412306"/>
            <a:ext cx="6254496" cy="4307709"/>
          </a:xfrm>
          <a:prstGeom prst="rect">
            <a:avLst/>
          </a:prstGeom>
          <a:solidFill>
            <a:srgbClr val="FFFFFF"/>
          </a:solidFill>
          <a:ln/>
          <a:effectLst>
            <a:outerShdw sx="100000" sy="100000" kx="0" ky="0" algn="bl" rotWithShape="0" blurRad="152400" dist="50800" dir="5400000">
              <a:srgbClr val="000000">
                <a:alpha val="30000"/>
              </a:srgbClr>
            </a:outerShdw>
          </a:effectLst>
        </p:spPr>
      </p:sp>
      <p:pic>
        <p:nvPicPr>
          <p:cNvPr id="22" name="Image 4" descr="/home/claude/ppt/certificate.png">    </p:cNvPr>
          <p:cNvPicPr>
            <a:picLocks noChangeAspect="1"/>
          </p:cNvPicPr>
          <p:nvPr/>
        </p:nvPicPr>
        <p:blipFill>
          <a:blip r:embed="rId5"/>
          <a:stretch>
            <a:fillRect/>
          </a:stretch>
        </p:blipFill>
        <p:spPr>
          <a:xfrm>
            <a:off x="5760720" y="1522034"/>
            <a:ext cx="6035040" cy="4088253"/>
          </a:xfrm>
          <a:prstGeom prst="rect">
            <a:avLst/>
          </a:prstGeom>
        </p:spPr>
      </p:pic>
      <p:sp>
        <p:nvSpPr>
          <p:cNvPr id="23" name="Text 16"/>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Introduction to Modern AI • Pushpendra Singh</a:t>
            </a:r>
            <a:endParaRPr lang="en-US" sz="1000" dirty="0"/>
          </a:p>
        </p:txBody>
      </p:sp>
      <p:sp>
        <p:nvSpPr>
          <p:cNvPr id="24" name="Text 17"/>
          <p:cNvSpPr txBox="1"/>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C2B39"/>
        </a:solidFill>
      </p:bgPr>
    </p:bg>
    <p:spTree>
      <p:nvGrpSpPr>
        <p:cNvPr id="1" name=""/>
        <p:cNvGrpSpPr/>
        <p:nvPr/>
      </p:nvGrpSpPr>
      <p:grpSpPr>
        <a:xfrm>
          <a:off x="0" y="0"/>
          <a:ext cx="0" cy="0"/>
          <a:chOff x="0" y="0"/>
          <a:chExt cx="0" cy="0"/>
        </a:xfrm>
      </p:grpSpPr>
      <p:sp>
        <p:nvSpPr>
          <p:cNvPr id="2" name="Shape 0"/>
          <p:cNvSpPr/>
          <p:nvPr/>
        </p:nvSpPr>
        <p:spPr>
          <a:xfrm>
            <a:off x="-2011680" y="4389120"/>
            <a:ext cx="3840480" cy="3840480"/>
          </a:xfrm>
          <a:prstGeom prst="ellipse">
            <a:avLst/>
          </a:prstGeom>
          <a:solidFill>
            <a:srgbClr val="141F29"/>
          </a:solidFill>
          <a:ln/>
        </p:spPr>
      </p:sp>
      <p:sp>
        <p:nvSpPr>
          <p:cNvPr id="3" name="Shape 1"/>
          <p:cNvSpPr/>
          <p:nvPr/>
        </p:nvSpPr>
        <p:spPr>
          <a:xfrm>
            <a:off x="10789920" y="-2011680"/>
            <a:ext cx="3840480" cy="3840480"/>
          </a:xfrm>
          <a:prstGeom prst="ellipse">
            <a:avLst/>
          </a:prstGeom>
          <a:solidFill>
            <a:srgbClr val="141F29"/>
          </a:solidFill>
          <a:ln/>
        </p:spPr>
      </p:sp>
      <p:sp>
        <p:nvSpPr>
          <p:cNvPr id="4" name="Shape 2"/>
          <p:cNvSpPr/>
          <p:nvPr/>
        </p:nvSpPr>
        <p:spPr>
          <a:xfrm>
            <a:off x="5682996" y="1737360"/>
            <a:ext cx="822960" cy="822960"/>
          </a:xfrm>
          <a:prstGeom prst="ellipse">
            <a:avLst/>
          </a:prstGeom>
          <a:solidFill>
            <a:srgbClr val="E8890C"/>
          </a:solidFill>
          <a:ln/>
        </p:spPr>
      </p:sp>
      <p:pic>
        <p:nvPicPr>
          <p:cNvPr id="5" name="Image 0" descr="/home/claude/ppt/icons/gradcap.png">    </p:cNvPr>
          <p:cNvPicPr>
            <a:picLocks noChangeAspect="1"/>
          </p:cNvPicPr>
          <p:nvPr/>
        </p:nvPicPr>
        <p:blipFill>
          <a:blip r:embed="rId1"/>
          <a:stretch>
            <a:fillRect/>
          </a:stretch>
        </p:blipFill>
        <p:spPr>
          <a:xfrm>
            <a:off x="5868162" y="1922526"/>
            <a:ext cx="452628" cy="452628"/>
          </a:xfrm>
          <a:prstGeom prst="rect">
            <a:avLst/>
          </a:prstGeom>
        </p:spPr>
      </p:pic>
      <p:sp>
        <p:nvSpPr>
          <p:cNvPr id="6" name="Text 3"/>
          <p:cNvSpPr txBox="1"/>
          <p:nvPr/>
        </p:nvSpPr>
        <p:spPr>
          <a:xfrm>
            <a:off x="0" y="2788920"/>
            <a:ext cx="12188952"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7" name="Text 4"/>
          <p:cNvSpPr txBox="1"/>
          <p:nvPr/>
        </p:nvSpPr>
        <p:spPr>
          <a:xfrm>
            <a:off x="0" y="3520440"/>
            <a:ext cx="12188952" cy="365760"/>
          </a:xfrm>
          <a:prstGeom prst="rect">
            <a:avLst/>
          </a:prstGeom>
          <a:noFill/>
          <a:ln/>
        </p:spPr>
        <p:txBody>
          <a:bodyPr wrap="square" lIns="0" tIns="0" rIns="0" bIns="0" rtlCol="0" anchor="ctr"/>
          <a:lstStyle/>
          <a:p>
            <a:pPr algn="ctr" indent="0" marL="0">
              <a:buNone/>
            </a:pPr>
            <a:r>
              <a:rPr lang="en-US" sz="1400" dirty="0">
                <a:solidFill>
                  <a:srgbClr val="B9C2CC"/>
                </a:solidFill>
                <a:latin typeface="Calibri" pitchFamily="34" charset="0"/>
                <a:ea typeface="Calibri" pitchFamily="34" charset="-122"/>
                <a:cs typeface="Calibri" pitchFamily="34" charset="-120"/>
              </a:rPr>
              <a:t>Introduction to Modern AI  |  Cisco Networking Academy</a:t>
            </a:r>
            <a:endParaRPr lang="en-US" sz="1400" dirty="0"/>
          </a:p>
        </p:txBody>
      </p:sp>
      <p:sp>
        <p:nvSpPr>
          <p:cNvPr id="8" name="Shape 5"/>
          <p:cNvSpPr/>
          <p:nvPr/>
        </p:nvSpPr>
        <p:spPr>
          <a:xfrm>
            <a:off x="5500116" y="4069080"/>
            <a:ext cx="1188720" cy="0"/>
          </a:xfrm>
          <a:prstGeom prst="line">
            <a:avLst/>
          </a:prstGeom>
          <a:noFill/>
          <a:ln w="31750">
            <a:solidFill>
              <a:srgbClr val="E8890C"/>
            </a:solidFill>
            <a:prstDash val="solid"/>
          </a:ln>
        </p:spPr>
      </p:sp>
      <p:sp>
        <p:nvSpPr>
          <p:cNvPr id="9" name="Text 6"/>
          <p:cNvSpPr txBox="1"/>
          <p:nvPr/>
        </p:nvSpPr>
        <p:spPr>
          <a:xfrm>
            <a:off x="0" y="4251960"/>
            <a:ext cx="12188952"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Pushpendra Singh</a:t>
            </a:r>
            <a:endParaRPr lang="en-US" sz="1500" dirty="0"/>
          </a:p>
        </p:txBody>
      </p:sp>
      <p:sp>
        <p:nvSpPr>
          <p:cNvPr id="10" name="Text 7"/>
          <p:cNvSpPr txBox="1"/>
          <p:nvPr/>
        </p:nvSpPr>
        <p:spPr>
          <a:xfrm>
            <a:off x="0" y="4572000"/>
            <a:ext cx="12188952" cy="320040"/>
          </a:xfrm>
          <a:prstGeom prst="rect">
            <a:avLst/>
          </a:prstGeom>
          <a:noFill/>
          <a:ln/>
        </p:spPr>
        <p:txBody>
          <a:bodyPr wrap="square" lIns="0" tIns="0" rIns="0" bIns="0" rtlCol="0" anchor="ctr"/>
          <a:lstStyle/>
          <a:p>
            <a:pPr algn="ctr" indent="0" marL="0">
              <a:buNone/>
            </a:pPr>
            <a:r>
              <a:rPr lang="en-US" sz="1200" dirty="0">
                <a:solidFill>
                  <a:srgbClr val="B9C2CC"/>
                </a:solidFill>
                <a:latin typeface="Calibri" pitchFamily="34" charset="0"/>
                <a:ea typeface="Calibri" pitchFamily="34" charset="-122"/>
                <a:cs typeface="Calibri" pitchFamily="34" charset="-120"/>
              </a:rPr>
              <a:t>Roll No. 2410030810  |  IILM University, Greater Noida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2026-08-30T11:27:05Z</dcterms:created>
  <dcterms:modified xsi:type="dcterms:W3CDTF">2026-08-30T11:27:05Z</dcterms:modified>
</cp:coreProperties>
</file>